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55" r:id="rId2"/>
    <p:sldId id="356" r:id="rId3"/>
  </p:sldIdLst>
  <p:sldSz cx="12188825"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46575E"/>
    <a:srgbClr val="B0C3C8"/>
    <a:srgbClr val="8DA6B1"/>
    <a:srgbClr val="41555E"/>
    <a:srgbClr val="61808E"/>
    <a:srgbClr val="BBCAD0"/>
    <a:srgbClr val="D1DBE0"/>
    <a:srgbClr val="E8EDEF"/>
    <a:srgbClr val="232C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2" autoAdjust="0"/>
    <p:restoredTop sz="90834" autoAdjust="0"/>
  </p:normalViewPr>
  <p:slideViewPr>
    <p:cSldViewPr snapToGrid="0">
      <p:cViewPr>
        <p:scale>
          <a:sx n="96" d="100"/>
          <a:sy n="96" d="100"/>
        </p:scale>
        <p:origin x="72" y="-1146"/>
      </p:cViewPr>
      <p:guideLst>
        <p:guide orient="horz" pos="2160"/>
        <p:guide orient="horz" pos="3744"/>
        <p:guide orient="horz" pos="960"/>
        <p:guide orient="horz" pos="1248"/>
        <p:guide pos="3839"/>
        <p:guide pos="7343"/>
        <p:guide pos="335"/>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156"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800" b="1" i="0" u="none" strike="noStrike" kern="1200" cap="all" spc="100" normalizeH="0" baseline="0">
                <a:solidFill>
                  <a:schemeClr val="lt1"/>
                </a:solidFill>
                <a:latin typeface="+mn-lt"/>
                <a:ea typeface="+mn-ea"/>
                <a:cs typeface="+mn-cs"/>
              </a:defRPr>
            </a:pPr>
            <a:r>
              <a:rPr lang="en-IN" sz="2800"/>
              <a:t>Burndown chart</a:t>
            </a:r>
          </a:p>
        </c:rich>
      </c:tx>
      <c:overlay val="0"/>
      <c:spPr>
        <a:noFill/>
        <a:ln>
          <a:noFill/>
        </a:ln>
        <a:effectLst/>
      </c:spPr>
      <c:txPr>
        <a:bodyPr rot="0" spcFirstLastPara="1" vertOverflow="ellipsis" vert="horz" wrap="square" anchor="ctr" anchorCtr="1"/>
        <a:lstStyle/>
        <a:p>
          <a:pPr>
            <a:defRPr sz="2800" b="1" i="0" u="none" strike="noStrike" kern="1200" cap="all" spc="100" normalizeH="0" baseline="0">
              <a:solidFill>
                <a:schemeClr val="lt1"/>
              </a:solidFill>
              <a:latin typeface="+mn-lt"/>
              <a:ea typeface="+mn-ea"/>
              <a:cs typeface="+mn-cs"/>
            </a:defRPr>
          </a:pPr>
          <a:endParaRPr lang="en-US"/>
        </a:p>
      </c:txPr>
    </c:title>
    <c:autoTitleDeleted val="0"/>
    <c:plotArea>
      <c:layout/>
      <c:lineChart>
        <c:grouping val="standard"/>
        <c:varyColors val="0"/>
        <c:ser>
          <c:idx val="0"/>
          <c:order val="0"/>
          <c:spPr>
            <a:ln w="25400" cap="rnd">
              <a:solidFill>
                <a:schemeClr val="lt1"/>
              </a:solidFill>
              <a:round/>
            </a:ln>
            <a:effectLst>
              <a:outerShdw dist="25400" dir="2700000" algn="tl" rotWithShape="0">
                <a:schemeClr val="accent5"/>
              </a:outerShdw>
            </a:effectLst>
          </c:spPr>
          <c:marker>
            <c:symbol val="none"/>
          </c:marker>
          <c:dLbls>
            <c:spPr>
              <a:solidFill>
                <a:schemeClr val="accent5"/>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5">
                          <a:lumMod val="60000"/>
                          <a:lumOff val="40000"/>
                        </a:schemeClr>
                      </a:solidFill>
                    </a:ln>
                    <a:effectLst/>
                  </c:spPr>
                </c15:leaderLines>
              </c:ext>
            </c:extLst>
          </c:dLbls>
          <c:cat>
            <c:numRef>
              <c:f>Sheet1!$D$1:$D$8</c:f>
              <c:numCache>
                <c:formatCode>d\-mmm</c:formatCode>
                <c:ptCount val="8"/>
                <c:pt idx="0">
                  <c:v>43770</c:v>
                </c:pt>
                <c:pt idx="1">
                  <c:v>43771</c:v>
                </c:pt>
                <c:pt idx="2">
                  <c:v>43772</c:v>
                </c:pt>
                <c:pt idx="3">
                  <c:v>43773</c:v>
                </c:pt>
                <c:pt idx="4">
                  <c:v>43774</c:v>
                </c:pt>
                <c:pt idx="5">
                  <c:v>43775</c:v>
                </c:pt>
                <c:pt idx="6">
                  <c:v>43776</c:v>
                </c:pt>
                <c:pt idx="7">
                  <c:v>43777</c:v>
                </c:pt>
              </c:numCache>
            </c:numRef>
          </c:cat>
          <c:val>
            <c:numRef>
              <c:f>Sheet1!$E$1:$E$8</c:f>
              <c:numCache>
                <c:formatCode>General</c:formatCode>
                <c:ptCount val="8"/>
                <c:pt idx="0">
                  <c:v>37.229999999999997</c:v>
                </c:pt>
                <c:pt idx="1">
                  <c:v>34.229999999999997</c:v>
                </c:pt>
                <c:pt idx="2">
                  <c:v>34.229999999999997</c:v>
                </c:pt>
                <c:pt idx="3">
                  <c:v>27</c:v>
                </c:pt>
                <c:pt idx="4">
                  <c:v>22</c:v>
                </c:pt>
                <c:pt idx="5">
                  <c:v>16.5</c:v>
                </c:pt>
                <c:pt idx="6">
                  <c:v>9.25</c:v>
                </c:pt>
                <c:pt idx="7">
                  <c:v>1</c:v>
                </c:pt>
              </c:numCache>
            </c:numRef>
          </c:val>
          <c:smooth val="0"/>
          <c:extLst>
            <c:ext xmlns:c16="http://schemas.microsoft.com/office/drawing/2014/chart" uri="{C3380CC4-5D6E-409C-BE32-E72D297353CC}">
              <c16:uniqueId val="{00000000-4C25-4FA0-9166-D19EC813D99A}"/>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522725016"/>
        <c:axId val="522726984"/>
      </c:lineChart>
      <c:dateAx>
        <c:axId val="522725016"/>
        <c:scaling>
          <c:orientation val="minMax"/>
        </c:scaling>
        <c:delete val="0"/>
        <c:axPos val="b"/>
        <c:title>
          <c:tx>
            <c:rich>
              <a:bodyPr rot="0" spcFirstLastPara="1" vertOverflow="ellipsis" vert="horz" wrap="square" anchor="ctr" anchorCtr="1"/>
              <a:lstStyle/>
              <a:p>
                <a:pPr>
                  <a:defRPr sz="2000" b="1" i="0" u="none" strike="noStrike" kern="1200" baseline="0">
                    <a:solidFill>
                      <a:schemeClr val="lt1"/>
                    </a:solidFill>
                    <a:latin typeface="+mn-lt"/>
                    <a:ea typeface="+mn-ea"/>
                    <a:cs typeface="+mn-cs"/>
                  </a:defRPr>
                </a:pPr>
                <a:r>
                  <a:rPr lang="en-IN" sz="2000"/>
                  <a:t>Date</a:t>
                </a:r>
              </a:p>
            </c:rich>
          </c:tx>
          <c:overlay val="0"/>
          <c:spPr>
            <a:noFill/>
            <a:ln>
              <a:noFill/>
            </a:ln>
            <a:effectLst/>
          </c:spPr>
          <c:txPr>
            <a:bodyPr rot="0" spcFirstLastPara="1" vertOverflow="ellipsis" vert="horz" wrap="square" anchor="ctr" anchorCtr="1"/>
            <a:lstStyle/>
            <a:p>
              <a:pPr>
                <a:defRPr sz="2000" b="1" i="0" u="none" strike="noStrike" kern="1200" baseline="0">
                  <a:solidFill>
                    <a:schemeClr val="lt1"/>
                  </a:solidFill>
                  <a:latin typeface="+mn-lt"/>
                  <a:ea typeface="+mn-ea"/>
                  <a:cs typeface="+mn-cs"/>
                </a:defRPr>
              </a:pPr>
              <a:endParaRPr lang="en-US"/>
            </a:p>
          </c:txPr>
        </c:title>
        <c:numFmt formatCode="d\-mmm"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spc="30" baseline="0">
                <a:solidFill>
                  <a:schemeClr val="lt1"/>
                </a:solidFill>
                <a:latin typeface="+mn-lt"/>
                <a:ea typeface="+mn-ea"/>
                <a:cs typeface="+mn-cs"/>
              </a:defRPr>
            </a:pPr>
            <a:endParaRPr lang="en-US"/>
          </a:p>
        </c:txPr>
        <c:crossAx val="522726984"/>
        <c:crosses val="autoZero"/>
        <c:auto val="1"/>
        <c:lblOffset val="100"/>
        <c:baseTimeUnit val="days"/>
      </c:dateAx>
      <c:valAx>
        <c:axId val="522726984"/>
        <c:scaling>
          <c:orientation val="minMax"/>
        </c:scaling>
        <c:delete val="1"/>
        <c:axPos val="l"/>
        <c:title>
          <c:tx>
            <c:rich>
              <a:bodyPr rot="-5400000" spcFirstLastPara="1" vertOverflow="ellipsis" vert="horz" wrap="square" anchor="ctr" anchorCtr="1"/>
              <a:lstStyle/>
              <a:p>
                <a:pPr>
                  <a:defRPr sz="2000" b="1" i="0" u="none" strike="noStrike" kern="1200" baseline="0">
                    <a:solidFill>
                      <a:schemeClr val="lt1"/>
                    </a:solidFill>
                    <a:latin typeface="+mn-lt"/>
                    <a:ea typeface="+mn-ea"/>
                    <a:cs typeface="+mn-cs"/>
                  </a:defRPr>
                </a:pPr>
                <a:r>
                  <a:rPr lang="en-IN" sz="2000" dirty="0"/>
                  <a:t>Remaining</a:t>
                </a:r>
                <a:r>
                  <a:rPr lang="en-IN" sz="2000" baseline="0" dirty="0"/>
                  <a:t> Effort</a:t>
                </a:r>
                <a:endParaRPr lang="en-IN" sz="2000" dirty="0"/>
              </a:p>
            </c:rich>
          </c:tx>
          <c:layout>
            <c:manualLayout>
              <c:xMode val="edge"/>
              <c:yMode val="edge"/>
              <c:x val="8.3333333333333332E-3"/>
              <c:y val="0.26282735491396908"/>
            </c:manualLayout>
          </c:layout>
          <c:overlay val="0"/>
          <c:spPr>
            <a:noFill/>
            <a:ln w="22225">
              <a:noFill/>
            </a:ln>
            <a:effectLst/>
          </c:spPr>
          <c:txPr>
            <a:bodyPr rot="-5400000" spcFirstLastPara="1" vertOverflow="ellipsis" vert="horz" wrap="square" anchor="ctr" anchorCtr="1"/>
            <a:lstStyle/>
            <a:p>
              <a:pPr>
                <a:defRPr sz="20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crossAx val="522725016"/>
        <c:crosses val="autoZero"/>
        <c:crossBetween val="between"/>
      </c:valAx>
      <c:spPr>
        <a:noFill/>
        <a:ln>
          <a:solidFill>
            <a:schemeClr val="bg1"/>
          </a:solidFill>
        </a:ln>
        <a:effectLst/>
      </c:spPr>
    </c:plotArea>
    <c:plotVisOnly val="1"/>
    <c:dispBlanksAs val="gap"/>
    <c:showDLblsOverMax val="0"/>
  </c:chart>
  <c:spPr>
    <a:solidFill>
      <a:schemeClr val="accent5"/>
    </a:solidFill>
    <a:ln w="9525" cap="flat" cmpd="sng" algn="ctr">
      <a:solidFill>
        <a:schemeClr val="lt1">
          <a:lumMod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38">
  <cs:axisTitle>
    <cs:lnRef idx="0"/>
    <cs:fillRef idx="0"/>
    <cs:effectRef idx="0"/>
    <cs:fontRef idx="minor">
      <a:schemeClr val="lt1"/>
    </cs:fontRef>
    <cs:defRPr sz="900" b="1" kern="1200"/>
  </cs:axisTitle>
  <cs:categoryAxis>
    <cs:lnRef idx="0">
      <cs:styleClr val="0"/>
    </cs:lnRef>
    <cs:fillRef idx="0"/>
    <cs:effectRef idx="0"/>
    <cs:fontRef idx="minor">
      <a:schemeClr val="lt1"/>
    </cs:fontRef>
    <cs:defRPr sz="900" kern="1200" spc="3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lt1">
            <a:lumMod val="85000"/>
          </a:schemeClr>
        </a:solidFill>
        <a:round/>
      </a:ln>
    </cs:spPr>
    <cs:defRPr sz="1000" kern="1200"/>
  </cs:chartArea>
  <cs:dataLabel>
    <cs:lnRef idx="0"/>
    <cs:fillRef idx="0">
      <cs:styleClr val="0"/>
    </cs:fillRef>
    <cs:effectRef idx="0"/>
    <cs:fontRef idx="minor">
      <a:schemeClr val="lt1"/>
    </cs:fontRef>
    <cs:spPr>
      <a:solidFill>
        <a:schemeClr val="phClr"/>
      </a:solidFill>
    </cs:spPr>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25400"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cs:spPr>
  </cs:dataPointMarker>
  <cs:dataPointMarkerLayout symbol="circle" size="14"/>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11/8/2019</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6" name="Date Placeholder 5"/>
          <p:cNvSpPr>
            <a:spLocks noGrp="1"/>
          </p:cNvSpPr>
          <p:nvPr>
            <p:ph type="dt" sz="half" idx="14"/>
          </p:nvPr>
        </p:nvSpPr>
        <p:spPr/>
        <p:txBody>
          <a:bodyPr/>
          <a:lstStyle>
            <a:lvl1pPr>
              <a:defRPr>
                <a:solidFill>
                  <a:srgbClr val="5F5F5F"/>
                </a:solidFill>
              </a:defRPr>
            </a:lvl1pPr>
          </a:lstStyle>
          <a:p>
            <a:fld id="{F58637A1-2757-41E8-AD98-43E9D0558D9A}" type="datetime1">
              <a:rPr lang="en-US" smtClean="0"/>
              <a:pPr/>
              <a:t>11/8/2019</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a:t>Oracle Confidential –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2014</a:t>
            </a:r>
            <a:r>
              <a:rPr lang="en-US" sz="850" dirty="0">
                <a:solidFill>
                  <a:srgbClr val="5F5F5F"/>
                </a:solidFill>
              </a:rPr>
              <a:t>,</a:t>
            </a:r>
            <a:r>
              <a:rPr sz="850" dirty="0">
                <a:solidFill>
                  <a:srgbClr val="5F5F5F"/>
                </a:solidFill>
              </a:rPr>
              <a:t> Oracle and/or its affiliates. All rights reserved.  |</a:t>
            </a:r>
          </a:p>
        </p:txBody>
      </p:sp>
    </p:spTree>
    <p:extLst>
      <p:ext uri="{BB962C8B-B14F-4D97-AF65-F5344CB8AC3E}">
        <p14:creationId xmlns:p14="http://schemas.microsoft.com/office/powerpoint/2010/main" val="399320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0"/>
          </p:nvPr>
        </p:nvSpPr>
        <p:spPr/>
        <p:txBody>
          <a:bodyPr/>
          <a:lstStyle>
            <a:lvl1pPr>
              <a:defRPr>
                <a:solidFill>
                  <a:srgbClr val="5F5F5F"/>
                </a:solidFill>
              </a:defRPr>
            </a:lvl1pPr>
          </a:lstStyle>
          <a:p>
            <a:fld id="{8DA0FC38-0FA5-4886-ABB4-D52548B1A4EE}" type="datetime1">
              <a:rPr lang="en-US" smtClean="0"/>
              <a:pPr/>
              <a:t>11/8/2019</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a:t>Oracle Confidential –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2014</a:t>
            </a:r>
            <a:r>
              <a:rPr lang="en-US" sz="850" dirty="0">
                <a:solidFill>
                  <a:srgbClr val="5F5F5F"/>
                </a:solidFill>
              </a:rPr>
              <a:t>,</a:t>
            </a:r>
            <a:r>
              <a:rPr sz="850" dirty="0">
                <a:solidFill>
                  <a:srgbClr val="5F5F5F"/>
                </a:solidFill>
              </a:rPr>
              <a:t> Oracle and/or its affiliates. All rights reserved.  |</a:t>
            </a:r>
          </a:p>
        </p:txBody>
      </p:sp>
    </p:spTree>
    <p:extLst>
      <p:ext uri="{BB962C8B-B14F-4D97-AF65-F5344CB8AC3E}">
        <p14:creationId xmlns:p14="http://schemas.microsoft.com/office/powerpoint/2010/main" val="240415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2" name="Picture 11"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4"/>
          </p:nvPr>
        </p:nvSpPr>
        <p:spPr/>
        <p:txBody>
          <a:bodyPr/>
          <a:lstStyle>
            <a:lvl1pPr>
              <a:defRPr>
                <a:solidFill>
                  <a:schemeClr val="tx1"/>
                </a:solidFill>
              </a:defRPr>
            </a:lvl1pPr>
          </a:lstStyle>
          <a:p>
            <a:fld id="{4C505D5A-B256-44E1-AC96-C2C7474C5D8D}" type="datetime1">
              <a:rPr lang="en-US" smtClean="0"/>
              <a:pPr/>
              <a:t>11/8/2019</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a:t>Oracle Confidential –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2014</a:t>
            </a:r>
            <a:r>
              <a:rPr lang="en-US" sz="850" dirty="0">
                <a:solidFill>
                  <a:schemeClr val="tx1"/>
                </a:solidFill>
              </a:rPr>
              <a:t>,</a:t>
            </a:r>
            <a:r>
              <a:rPr sz="850" dirty="0">
                <a:solidFill>
                  <a:schemeClr val="tx1"/>
                </a:solidFill>
              </a:rPr>
              <a:t> Oracle and/or its affiliates. All rights reserved.  |</a:t>
            </a:r>
          </a:p>
        </p:txBody>
      </p:sp>
    </p:spTree>
    <p:extLst>
      <p:ext uri="{BB962C8B-B14F-4D97-AF65-F5344CB8AC3E}">
        <p14:creationId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B3EEE87-DDB3-4675-99CC-7EF64D192D2F}" type="datetime1">
              <a:rPr lang="en-US" smtClean="0"/>
              <a:pPr/>
              <a:t>11/8/2019</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2014</a:t>
            </a:r>
            <a:r>
              <a:rPr lang="en-US" sz="850" dirty="0">
                <a:solidFill>
                  <a:schemeClr val="tx1"/>
                </a:solidFill>
              </a:rPr>
              <a:t>,</a:t>
            </a:r>
            <a:r>
              <a:rPr sz="850" dirty="0">
                <a:solidFill>
                  <a:schemeClr val="tx1"/>
                </a:solidFill>
              </a:rPr>
              <a:t> Oracle and/or its affiliates. All rights reserved.  |</a:t>
            </a:r>
          </a:p>
        </p:txBody>
      </p:sp>
    </p:spTree>
    <p:extLst>
      <p:ext uri="{BB962C8B-B14F-4D97-AF65-F5344CB8AC3E}">
        <p14:creationId xmlns:p14="http://schemas.microsoft.com/office/powerpoint/2010/main"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3022D7-D716-4AF5-B755-D22F080AC54D}" type="datetime1">
              <a:rPr lang="en-US" smtClean="0"/>
              <a:pPr/>
              <a:t>11/8/2019</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2014</a:t>
            </a:r>
            <a:r>
              <a:rPr lang="en-US" sz="850" dirty="0">
                <a:solidFill>
                  <a:schemeClr val="tx1"/>
                </a:solidFill>
              </a:rPr>
              <a:t>,</a:t>
            </a:r>
            <a:r>
              <a:rPr sz="850" dirty="0">
                <a:solidFill>
                  <a:schemeClr val="tx1"/>
                </a:solidFill>
              </a:rPr>
              <a:t> Oracle and/or its affiliates. All rights reserved.  |</a:t>
            </a:r>
          </a:p>
        </p:txBody>
      </p:sp>
    </p:spTree>
    <p:extLst>
      <p:ext uri="{BB962C8B-B14F-4D97-AF65-F5344CB8AC3E}">
        <p14:creationId xmlns:p14="http://schemas.microsoft.com/office/powerpoint/2010/main"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F4B0713F-DA50-44B8-8328-CFEF845F6523}" type="datetime1">
              <a:rPr lang="en-US" smtClean="0"/>
              <a:pPr/>
              <a:t>11/8/2019</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val="20752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7CD2E52-83C8-44FA-88AD-FB45DDFBF65F}" type="datetime1">
              <a:rPr lang="en-US" smtClean="0"/>
              <a:pPr/>
              <a:t>11/8/2019</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val="3371768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4" name="Date Placeholder 3"/>
          <p:cNvSpPr>
            <a:spLocks noGrp="1"/>
          </p:cNvSpPr>
          <p:nvPr>
            <p:ph type="dt" sz="half" idx="10"/>
          </p:nvPr>
        </p:nvSpPr>
        <p:spPr/>
        <p:txBody>
          <a:bodyPr/>
          <a:lstStyle/>
          <a:p>
            <a:fld id="{CB2EC637-D865-4A1A-B82E-96829CE60973}" type="datetime1">
              <a:rPr lang="en-US" smtClean="0"/>
              <a:pPr/>
              <a:t>11/8/2019</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122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FC69AA-31D1-4BE3-A7F9-4499E9495C0A}" type="datetime1">
              <a:rPr lang="en-US" smtClean="0"/>
              <a:pPr/>
              <a:t>11/8/2019</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val="151385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28D98802-C4BE-44EF-A775-109B41689843}" type="datetime1">
              <a:rPr lang="en-US" smtClean="0"/>
              <a:pPr/>
              <a:t>11/8/2019</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2014</a:t>
            </a:r>
            <a:r>
              <a:rPr lang="en-US" sz="850" dirty="0">
                <a:solidFill>
                  <a:srgbClr val="5F5F5F"/>
                </a:solidFill>
              </a:rPr>
              <a:t>,</a:t>
            </a:r>
            <a:r>
              <a:rPr sz="850" dirty="0">
                <a:solidFill>
                  <a:srgbClr val="5F5F5F"/>
                </a:solidFill>
              </a:rPr>
              <a:t> Oracle and/or its affiliates. All rights reserved.  |</a:t>
            </a:r>
          </a:p>
        </p:txBody>
      </p:sp>
    </p:spTree>
    <p:extLst>
      <p:ext uri="{BB962C8B-B14F-4D97-AF65-F5344CB8AC3E}">
        <p14:creationId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4B324B-18FF-4147-BA18-D36160E9F106}"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val="2670370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C8D6732-15F2-4802-8009-37AC693C551A}"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a:t>Click to edit Master text styles</a:t>
            </a:r>
          </a:p>
          <a:p>
            <a:pPr lvl="1"/>
            <a:r>
              <a:rPr lang="en-US"/>
              <a:t>Second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89077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5B7D2015-66F5-48BA-96D8-17D36F2E0AA3}"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val="94509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B4BFE1CA-6658-4197-8E4E-2C35AF1F1E72}"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p14="http://schemas.microsoft.com/office/powerpoint/2010/main" val="1027766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BED1B2-9BE1-4BB3-AF93-47A294133177}"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52016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E9BFC2-4754-4D3F-B8B7-155C41C1ECF0}"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5337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7832B4-CFEF-4C48-9F00-42AED7DD8CEE}"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12263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C6703CB-F5F4-4371-82F0-CC855CC16EF3}"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242812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0834887D-8006-4942-961D-3944DDB3075E}"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a:t>XX</a:t>
            </a:r>
          </a:p>
        </p:txBody>
      </p:sp>
    </p:spTree>
    <p:extLst>
      <p:ext uri="{BB962C8B-B14F-4D97-AF65-F5344CB8AC3E}">
        <p14:creationId xmlns:p14="http://schemas.microsoft.com/office/powerpoint/2010/main" val="3739386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227421-3F85-42F8-BDFD-0A6C36E3C2FA}" type="datetime1">
              <a:rPr lang="en-US" smtClean="0"/>
              <a:pPr/>
              <a:t>11/8/2019</a:t>
            </a:fld>
            <a:endParaRPr dirty="0"/>
          </a:p>
        </p:txBody>
      </p:sp>
      <p:sp>
        <p:nvSpPr>
          <p:cNvPr id="8" name="Footer Placeholder 7"/>
          <p:cNvSpPr>
            <a:spLocks noGrp="1"/>
          </p:cNvSpPr>
          <p:nvPr>
            <p:ph type="ftr" sz="quarter" idx="11"/>
          </p:nvPr>
        </p:nvSpPr>
        <p:spPr/>
        <p:txBody>
          <a:bodyPr/>
          <a:lstStyle/>
          <a:p>
            <a:r>
              <a:rPr dirty="0"/>
              <a:t>Oracle Confidential – Internal/Restricted/Highly Restricted</a:t>
            </a:r>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378700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A1F17C-4AFE-4B02-9BD6-67CB04075FF1}" type="datetime1">
              <a:rPr lang="en-US" smtClean="0"/>
              <a:pPr/>
              <a:t>11/8/2019</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769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0010B8-11AC-4175-BF29-EB4A3C61102F}" type="datetime1">
              <a:rPr lang="en-US" smtClean="0"/>
              <a:pPr/>
              <a:t>11/8/2019</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416362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58637A1-2757-41E8-AD98-43E9D0558D9A}" type="datetime1">
              <a:rPr lang="en-US" smtClean="0"/>
              <a:pPr/>
              <a:t>11/8/2019</a:t>
            </a:fld>
            <a:endParaRPr lang="en-US" dirty="0"/>
          </a:p>
        </p:txBody>
      </p:sp>
      <p:sp>
        <p:nvSpPr>
          <p:cNvPr id="6" name="Slide Number Placeholder 5"/>
          <p:cNvSpPr>
            <a:spLocks noGrp="1"/>
          </p:cNvSpPr>
          <p:nvPr>
            <p:ph type="sldNum" sz="quarter" idx="11"/>
          </p:nvPr>
        </p:nvSpPr>
        <p:spPr/>
        <p:txBody>
          <a:bodyPr/>
          <a:lstStyle/>
          <a:p>
            <a:fld id="{C51EAA63-D034-42AE-91FA-B13B9518C7BE}" type="slidenum">
              <a:rPr lang="en-US" smtClean="0"/>
              <a:pPr/>
              <a:t>‹#›</a:t>
            </a:fld>
            <a:endParaRPr lang="en-US" dirty="0"/>
          </a:p>
        </p:txBody>
      </p:sp>
      <p:sp>
        <p:nvSpPr>
          <p:cNvPr id="7" name="Footer Placeholder 6"/>
          <p:cNvSpPr>
            <a:spLocks noGrp="1"/>
          </p:cNvSpPr>
          <p:nvPr>
            <p:ph type="ftr" sz="quarter" idx="12"/>
          </p:nvPr>
        </p:nvSpPr>
        <p:spPr/>
        <p:txBody>
          <a:bodyPr/>
          <a:lstStyle/>
          <a:p>
            <a:r>
              <a:rPr lang="en-US"/>
              <a:t>Oracle Confidential – Internal/Restricted/Highly Restricted</a:t>
            </a:r>
            <a:endParaRPr lang="en-US" dirty="0"/>
          </a:p>
        </p:txBody>
      </p:sp>
    </p:spTree>
    <p:extLst>
      <p:ext uri="{BB962C8B-B14F-4D97-AF65-F5344CB8AC3E}">
        <p14:creationId xmlns:p14="http://schemas.microsoft.com/office/powerpoint/2010/main" val="360822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86C7CE-9D23-4A42-845E-2EB696664727}"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345785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BA32AB-378C-44A6-BBCB-4C90F374D0FC}"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305827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87AD43-539D-4156-9FD6-437CAE9F93FE}"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90898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494F0A-3A42-4B5D-A4C2-90E38C5A7947}"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279085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5" name="Date Placeholder 4"/>
          <p:cNvSpPr>
            <a:spLocks noGrp="1"/>
          </p:cNvSpPr>
          <p:nvPr>
            <p:ph type="dt" sz="half" idx="10"/>
          </p:nvPr>
        </p:nvSpPr>
        <p:spPr/>
        <p:txBody>
          <a:bodyPr/>
          <a:lstStyle/>
          <a:p>
            <a:fld id="{1BA0AC74-C01C-456F-BD5D-BCFFCE23EE8E}"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itle 3"/>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74544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a:t>Click to edit Master title style</a:t>
            </a:r>
            <a:endParaRPr dirty="0"/>
          </a:p>
        </p:txBody>
      </p:sp>
      <p:sp>
        <p:nvSpPr>
          <p:cNvPr id="5" name="Date Placeholder 4"/>
          <p:cNvSpPr>
            <a:spLocks noGrp="1"/>
          </p:cNvSpPr>
          <p:nvPr>
            <p:ph type="dt" sz="half" idx="10"/>
          </p:nvPr>
        </p:nvSpPr>
        <p:spPr/>
        <p:txBody>
          <a:bodyPr/>
          <a:lstStyle/>
          <a:p>
            <a:fld id="{C447B5AF-1809-4D52-BE60-78F570C83F44}"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Tree>
    <p:extLst>
      <p:ext uri="{BB962C8B-B14F-4D97-AF65-F5344CB8AC3E}">
        <p14:creationId xmlns:p14="http://schemas.microsoft.com/office/powerpoint/2010/main" val="272063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5" name="Date Placeholder 4"/>
          <p:cNvSpPr>
            <a:spLocks noGrp="1"/>
          </p:cNvSpPr>
          <p:nvPr>
            <p:ph type="dt" sz="half" idx="10"/>
          </p:nvPr>
        </p:nvSpPr>
        <p:spPr/>
        <p:txBody>
          <a:bodyPr/>
          <a:lstStyle/>
          <a:p>
            <a:fld id="{1A2474AE-A74B-49A7-B5B1-A400C0D62D32}"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itle 3"/>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3629068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a:t>Click to edit Master title style</a:t>
            </a:r>
            <a:endParaRPr dirty="0"/>
          </a:p>
        </p:txBody>
      </p:sp>
      <p:sp>
        <p:nvSpPr>
          <p:cNvPr id="5" name="Date Placeholder 4"/>
          <p:cNvSpPr>
            <a:spLocks noGrp="1"/>
          </p:cNvSpPr>
          <p:nvPr>
            <p:ph type="dt" sz="half" idx="10"/>
          </p:nvPr>
        </p:nvSpPr>
        <p:spPr/>
        <p:txBody>
          <a:bodyPr/>
          <a:lstStyle/>
          <a:p>
            <a:fld id="{4B767A9A-D0AC-47FB-851D-810FC45BAB35}" type="datetime1">
              <a:rPr lang="en-US" smtClean="0"/>
              <a:pPr/>
              <a:t>11/8/2019</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Tree>
    <p:extLst>
      <p:ext uri="{BB962C8B-B14F-4D97-AF65-F5344CB8AC3E}">
        <p14:creationId xmlns:p14="http://schemas.microsoft.com/office/powerpoint/2010/main" val="396459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4ADD7E43-24FB-40CC-971F-1AFB4F96D58C}" type="datetime1">
              <a:rPr lang="en-US" smtClean="0"/>
              <a:pPr/>
              <a:t>11/8/2019</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a:t>Oracle Confidential –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a:t>XX</a:t>
            </a:r>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2014</a:t>
            </a:r>
            <a:r>
              <a:rPr lang="en-US" sz="850" dirty="0">
                <a:solidFill>
                  <a:srgbClr val="5F5F5F"/>
                </a:solidFill>
              </a:rPr>
              <a:t>,</a:t>
            </a:r>
            <a:r>
              <a:rPr sz="850" dirty="0">
                <a:solidFill>
                  <a:srgbClr val="5F5F5F"/>
                </a:solidFill>
              </a:rPr>
              <a:t> Oracle and/or its affiliates. All rights reserved.  |</a:t>
            </a:r>
          </a:p>
        </p:txBody>
      </p:sp>
    </p:spTree>
    <p:extLst>
      <p:ext uri="{BB962C8B-B14F-4D97-AF65-F5344CB8AC3E}">
        <p14:creationId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ACD4C6-5F02-4E1D-8860-E571DA6DFE1F}" type="datetime1">
              <a:rPr lang="en-US" smtClean="0"/>
              <a:pPr/>
              <a:t>11/8/2019</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val="259788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134E1-025A-423B-B455-DC3D3A91EDB9}" type="datetime1">
              <a:rPr lang="en-US" smtClean="0"/>
              <a:pPr/>
              <a:t>11/8/2019</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val="235887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14A5B-588F-4C90-9D20-DD3B4D6AC865}" type="datetime1">
              <a:rPr lang="en-US" smtClean="0"/>
              <a:pPr/>
              <a:t>11/8/2019</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grpSp>
        <p:nvGrpSpPr>
          <p:cNvPr id="3093" name="Group 3092" descr="&quot;Hardware and Software Engineered to work together&quot; tagline in red and black"/>
          <p:cNvGrpSpPr/>
          <p:nvPr userDrawn="1"/>
        </p:nvGrpSpPr>
        <p:grpSpPr bwMode="gray">
          <a:xfrm>
            <a:off x="3263901" y="2743200"/>
            <a:ext cx="5668962" cy="1081088"/>
            <a:chOff x="3263901" y="1227138"/>
            <a:chExt cx="5668962" cy="1081088"/>
          </a:xfrm>
        </p:grpSpPr>
        <p:sp>
          <p:nvSpPr>
            <p:cNvPr id="8" name="Rectangle 5"/>
            <p:cNvSpPr>
              <a:spLocks noChangeArrowheads="1"/>
            </p:cNvSpPr>
            <p:nvPr/>
          </p:nvSpPr>
          <p:spPr bwMode="gray">
            <a:xfrm>
              <a:off x="3997326" y="1855788"/>
              <a:ext cx="73025" cy="50800"/>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9" name="Freeform 6"/>
            <p:cNvSpPr>
              <a:spLocks noEditPoints="1"/>
            </p:cNvSpPr>
            <p:nvPr/>
          </p:nvSpPr>
          <p:spPr bwMode="gray">
            <a:xfrm>
              <a:off x="48355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2"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0" name="Freeform 7"/>
            <p:cNvSpPr>
              <a:spLocks/>
            </p:cNvSpPr>
            <p:nvPr/>
          </p:nvSpPr>
          <p:spPr bwMode="gray">
            <a:xfrm>
              <a:off x="3263901" y="1236663"/>
              <a:ext cx="288925" cy="434975"/>
            </a:xfrm>
            <a:custGeom>
              <a:avLst/>
              <a:gdLst>
                <a:gd name="T0" fmla="*/ 125 w 182"/>
                <a:gd name="T1" fmla="*/ 110 h 274"/>
                <a:gd name="T2" fmla="*/ 125 w 182"/>
                <a:gd name="T3" fmla="*/ 0 h 274"/>
                <a:gd name="T4" fmla="*/ 182 w 182"/>
                <a:gd name="T5" fmla="*/ 0 h 274"/>
                <a:gd name="T6" fmla="*/ 182 w 182"/>
                <a:gd name="T7" fmla="*/ 274 h 274"/>
                <a:gd name="T8" fmla="*/ 125 w 182"/>
                <a:gd name="T9" fmla="*/ 274 h 274"/>
                <a:gd name="T10" fmla="*/ 125 w 182"/>
                <a:gd name="T11" fmla="*/ 153 h 274"/>
                <a:gd name="T12" fmla="*/ 57 w 182"/>
                <a:gd name="T13" fmla="*/ 153 h 274"/>
                <a:gd name="T14" fmla="*/ 57 w 182"/>
                <a:gd name="T15" fmla="*/ 274 h 274"/>
                <a:gd name="T16" fmla="*/ 0 w 182"/>
                <a:gd name="T17" fmla="*/ 274 h 274"/>
                <a:gd name="T18" fmla="*/ 0 w 182"/>
                <a:gd name="T19" fmla="*/ 0 h 274"/>
                <a:gd name="T20" fmla="*/ 57 w 182"/>
                <a:gd name="T21" fmla="*/ 0 h 274"/>
                <a:gd name="T22" fmla="*/ 57 w 182"/>
                <a:gd name="T23" fmla="*/ 110 h 274"/>
                <a:gd name="T24" fmla="*/ 125 w 182"/>
                <a:gd name="T25" fmla="*/ 1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274">
                  <a:moveTo>
                    <a:pt x="125" y="110"/>
                  </a:moveTo>
                  <a:lnTo>
                    <a:pt x="125" y="0"/>
                  </a:lnTo>
                  <a:lnTo>
                    <a:pt x="182" y="0"/>
                  </a:lnTo>
                  <a:lnTo>
                    <a:pt x="182" y="274"/>
                  </a:lnTo>
                  <a:lnTo>
                    <a:pt x="125" y="274"/>
                  </a:lnTo>
                  <a:lnTo>
                    <a:pt x="125" y="153"/>
                  </a:lnTo>
                  <a:lnTo>
                    <a:pt x="57" y="153"/>
                  </a:lnTo>
                  <a:lnTo>
                    <a:pt x="57" y="274"/>
                  </a:lnTo>
                  <a:lnTo>
                    <a:pt x="0" y="274"/>
                  </a:lnTo>
                  <a:lnTo>
                    <a:pt x="0" y="0"/>
                  </a:lnTo>
                  <a:lnTo>
                    <a:pt x="57" y="0"/>
                  </a:lnTo>
                  <a:lnTo>
                    <a:pt x="57" y="110"/>
                  </a:lnTo>
                  <a:lnTo>
                    <a:pt x="125" y="1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1" name="Freeform 8"/>
            <p:cNvSpPr>
              <a:spLocks noEditPoints="1"/>
            </p:cNvSpPr>
            <p:nvPr/>
          </p:nvSpPr>
          <p:spPr bwMode="gray">
            <a:xfrm>
              <a:off x="3602038" y="1362075"/>
              <a:ext cx="246063" cy="317500"/>
            </a:xfrm>
            <a:custGeom>
              <a:avLst/>
              <a:gdLst>
                <a:gd name="T0" fmla="*/ 29 w 30"/>
                <a:gd name="T1" fmla="*/ 30 h 38"/>
                <a:gd name="T2" fmla="*/ 30 w 30"/>
                <a:gd name="T3" fmla="*/ 37 h 38"/>
                <a:gd name="T4" fmla="*/ 20 w 30"/>
                <a:gd name="T5" fmla="*/ 37 h 38"/>
                <a:gd name="T6" fmla="*/ 20 w 30"/>
                <a:gd name="T7" fmla="*/ 32 h 38"/>
                <a:gd name="T8" fmla="*/ 19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4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19" y="32"/>
                    <a:pt x="19" y="32"/>
                    <a:pt x="19"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2" name="Freeform 9"/>
            <p:cNvSpPr>
              <a:spLocks/>
            </p:cNvSpPr>
            <p:nvPr/>
          </p:nvSpPr>
          <p:spPr bwMode="gray">
            <a:xfrm>
              <a:off x="3897313" y="1362075"/>
              <a:ext cx="165100" cy="309563"/>
            </a:xfrm>
            <a:custGeom>
              <a:avLst/>
              <a:gdLst>
                <a:gd name="T0" fmla="*/ 10 w 20"/>
                <a:gd name="T1" fmla="*/ 0 h 37"/>
                <a:gd name="T2" fmla="*/ 10 w 20"/>
                <a:gd name="T3" fmla="*/ 5 h 37"/>
                <a:gd name="T4" fmla="*/ 10 w 20"/>
                <a:gd name="T5" fmla="*/ 5 h 37"/>
                <a:gd name="T6" fmla="*/ 20 w 20"/>
                <a:gd name="T7" fmla="*/ 0 h 37"/>
                <a:gd name="T8" fmla="*/ 20 w 20"/>
                <a:gd name="T9" fmla="*/ 9 h 37"/>
                <a:gd name="T10" fmla="*/ 10 w 20"/>
                <a:gd name="T11" fmla="*/ 17 h 37"/>
                <a:gd name="T12" fmla="*/ 10 w 20"/>
                <a:gd name="T13" fmla="*/ 37 h 37"/>
                <a:gd name="T14" fmla="*/ 0 w 20"/>
                <a:gd name="T15" fmla="*/ 37 h 37"/>
                <a:gd name="T16" fmla="*/ 0 w 20"/>
                <a:gd name="T17" fmla="*/ 0 h 37"/>
                <a:gd name="T18" fmla="*/ 10 w 2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37">
                  <a:moveTo>
                    <a:pt x="10" y="0"/>
                  </a:moveTo>
                  <a:cubicBezTo>
                    <a:pt x="10" y="5"/>
                    <a:pt x="10" y="5"/>
                    <a:pt x="10" y="5"/>
                  </a:cubicBezTo>
                  <a:cubicBezTo>
                    <a:pt x="10" y="5"/>
                    <a:pt x="10" y="5"/>
                    <a:pt x="10" y="5"/>
                  </a:cubicBezTo>
                  <a:cubicBezTo>
                    <a:pt x="12" y="1"/>
                    <a:pt x="15" y="0"/>
                    <a:pt x="20" y="0"/>
                  </a:cubicBezTo>
                  <a:cubicBezTo>
                    <a:pt x="20" y="9"/>
                    <a:pt x="20" y="9"/>
                    <a:pt x="20" y="9"/>
                  </a:cubicBezTo>
                  <a:cubicBezTo>
                    <a:pt x="11"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3" name="Freeform 10"/>
            <p:cNvSpPr>
              <a:spLocks/>
            </p:cNvSpPr>
            <p:nvPr/>
          </p:nvSpPr>
          <p:spPr bwMode="gray">
            <a:xfrm>
              <a:off x="4367213" y="1362075"/>
              <a:ext cx="444500" cy="309563"/>
            </a:xfrm>
            <a:custGeom>
              <a:avLst/>
              <a:gdLst>
                <a:gd name="T0" fmla="*/ 0 w 280"/>
                <a:gd name="T1" fmla="*/ 0 h 195"/>
                <a:gd name="T2" fmla="*/ 52 w 280"/>
                <a:gd name="T3" fmla="*/ 0 h 195"/>
                <a:gd name="T4" fmla="*/ 77 w 280"/>
                <a:gd name="T5" fmla="*/ 148 h 195"/>
                <a:gd name="T6" fmla="*/ 77 w 280"/>
                <a:gd name="T7" fmla="*/ 148 h 195"/>
                <a:gd name="T8" fmla="*/ 114 w 280"/>
                <a:gd name="T9" fmla="*/ 0 h 195"/>
                <a:gd name="T10" fmla="*/ 171 w 280"/>
                <a:gd name="T11" fmla="*/ 0 h 195"/>
                <a:gd name="T12" fmla="*/ 202 w 280"/>
                <a:gd name="T13" fmla="*/ 148 h 195"/>
                <a:gd name="T14" fmla="*/ 202 w 280"/>
                <a:gd name="T15" fmla="*/ 148 h 195"/>
                <a:gd name="T16" fmla="*/ 233 w 280"/>
                <a:gd name="T17" fmla="*/ 0 h 195"/>
                <a:gd name="T18" fmla="*/ 280 w 280"/>
                <a:gd name="T19" fmla="*/ 0 h 195"/>
                <a:gd name="T20" fmla="*/ 233 w 280"/>
                <a:gd name="T21" fmla="*/ 195 h 195"/>
                <a:gd name="T22" fmla="*/ 176 w 280"/>
                <a:gd name="T23" fmla="*/ 195 h 195"/>
                <a:gd name="T24" fmla="*/ 140 w 280"/>
                <a:gd name="T25" fmla="*/ 63 h 195"/>
                <a:gd name="T26" fmla="*/ 140 w 280"/>
                <a:gd name="T27" fmla="*/ 63 h 195"/>
                <a:gd name="T28" fmla="*/ 103 w 280"/>
                <a:gd name="T29" fmla="*/ 195 h 195"/>
                <a:gd name="T30" fmla="*/ 46 w 280"/>
                <a:gd name="T31" fmla="*/ 195 h 195"/>
                <a:gd name="T32" fmla="*/ 0 w 280"/>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0" h="195">
                  <a:moveTo>
                    <a:pt x="0" y="0"/>
                  </a:moveTo>
                  <a:lnTo>
                    <a:pt x="52" y="0"/>
                  </a:lnTo>
                  <a:lnTo>
                    <a:pt x="77" y="148"/>
                  </a:lnTo>
                  <a:lnTo>
                    <a:pt x="77" y="148"/>
                  </a:lnTo>
                  <a:lnTo>
                    <a:pt x="114" y="0"/>
                  </a:lnTo>
                  <a:lnTo>
                    <a:pt x="171" y="0"/>
                  </a:lnTo>
                  <a:lnTo>
                    <a:pt x="202" y="148"/>
                  </a:lnTo>
                  <a:lnTo>
                    <a:pt x="202" y="148"/>
                  </a:lnTo>
                  <a:lnTo>
                    <a:pt x="233" y="0"/>
                  </a:lnTo>
                  <a:lnTo>
                    <a:pt x="280" y="0"/>
                  </a:lnTo>
                  <a:lnTo>
                    <a:pt x="233" y="195"/>
                  </a:lnTo>
                  <a:lnTo>
                    <a:pt x="176" y="195"/>
                  </a:lnTo>
                  <a:lnTo>
                    <a:pt x="140" y="63"/>
                  </a:lnTo>
                  <a:lnTo>
                    <a:pt x="140" y="63"/>
                  </a:lnTo>
                  <a:lnTo>
                    <a:pt x="103" y="195"/>
                  </a:lnTo>
                  <a:lnTo>
                    <a:pt x="46"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4" name="Freeform 11"/>
            <p:cNvSpPr>
              <a:spLocks/>
            </p:cNvSpPr>
            <p:nvPr/>
          </p:nvSpPr>
          <p:spPr bwMode="gray">
            <a:xfrm>
              <a:off x="5132388" y="1362075"/>
              <a:ext cx="155575"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5" name="Freeform 12"/>
            <p:cNvSpPr>
              <a:spLocks noEditPoints="1"/>
            </p:cNvSpPr>
            <p:nvPr/>
          </p:nvSpPr>
          <p:spPr bwMode="gray">
            <a:xfrm>
              <a:off x="5321301" y="1362075"/>
              <a:ext cx="246063"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6" name="Freeform 13"/>
            <p:cNvSpPr>
              <a:spLocks noEditPoints="1"/>
            </p:cNvSpPr>
            <p:nvPr/>
          </p:nvSpPr>
          <p:spPr bwMode="gray">
            <a:xfrm>
              <a:off x="5748338" y="1362075"/>
              <a:ext cx="247650" cy="317500"/>
            </a:xfrm>
            <a:custGeom>
              <a:avLst/>
              <a:gdLst>
                <a:gd name="T0" fmla="*/ 29 w 30"/>
                <a:gd name="T1" fmla="*/ 30 h 38"/>
                <a:gd name="T2" fmla="*/ 30 w 30"/>
                <a:gd name="T3" fmla="*/ 37 h 38"/>
                <a:gd name="T4" fmla="*/ 20 w 30"/>
                <a:gd name="T5" fmla="*/ 37 h 38"/>
                <a:gd name="T6" fmla="*/ 20 w 30"/>
                <a:gd name="T7" fmla="*/ 32 h 38"/>
                <a:gd name="T8" fmla="*/ 20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5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20" y="32"/>
                    <a:pt x="20" y="32"/>
                    <a:pt x="20"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3" y="4"/>
                    <a:pt x="5" y="2"/>
                  </a:cubicBezTo>
                  <a:cubicBezTo>
                    <a:pt x="7" y="0"/>
                    <a:pt x="11" y="0"/>
                    <a:pt x="15" y="0"/>
                  </a:cubicBezTo>
                  <a:cubicBezTo>
                    <a:pt x="28"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7" name="Freeform 14"/>
            <p:cNvSpPr>
              <a:spLocks/>
            </p:cNvSpPr>
            <p:nvPr/>
          </p:nvSpPr>
          <p:spPr bwMode="gray">
            <a:xfrm>
              <a:off x="6045201" y="1362075"/>
              <a:ext cx="230188" cy="309563"/>
            </a:xfrm>
            <a:custGeom>
              <a:avLst/>
              <a:gdLst>
                <a:gd name="T0" fmla="*/ 11 w 28"/>
                <a:gd name="T1" fmla="*/ 4 h 37"/>
                <a:gd name="T2" fmla="*/ 11 w 28"/>
                <a:gd name="T3" fmla="*/ 4 h 37"/>
                <a:gd name="T4" fmla="*/ 14 w 28"/>
                <a:gd name="T5" fmla="*/ 1 h 37"/>
                <a:gd name="T6" fmla="*/ 19 w 28"/>
                <a:gd name="T7" fmla="*/ 0 h 37"/>
                <a:gd name="T8" fmla="*/ 28 w 28"/>
                <a:gd name="T9" fmla="*/ 8 h 37"/>
                <a:gd name="T10" fmla="*/ 28 w 28"/>
                <a:gd name="T11" fmla="*/ 37 h 37"/>
                <a:gd name="T12" fmla="*/ 18 w 28"/>
                <a:gd name="T13" fmla="*/ 37 h 37"/>
                <a:gd name="T14" fmla="*/ 18 w 28"/>
                <a:gd name="T15" fmla="*/ 12 h 37"/>
                <a:gd name="T16" fmla="*/ 14 w 28"/>
                <a:gd name="T17" fmla="*/ 6 h 37"/>
                <a:gd name="T18" fmla="*/ 11 w 28"/>
                <a:gd name="T19" fmla="*/ 12 h 37"/>
                <a:gd name="T20" fmla="*/ 11 w 28"/>
                <a:gd name="T21" fmla="*/ 37 h 37"/>
                <a:gd name="T22" fmla="*/ 0 w 28"/>
                <a:gd name="T23" fmla="*/ 37 h 37"/>
                <a:gd name="T24" fmla="*/ 0 w 28"/>
                <a:gd name="T25" fmla="*/ 0 h 37"/>
                <a:gd name="T26" fmla="*/ 11 w 28"/>
                <a:gd name="T27" fmla="*/ 0 h 37"/>
                <a:gd name="T28" fmla="*/ 11 w 28"/>
                <a:gd name="T2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7">
                  <a:moveTo>
                    <a:pt x="11" y="4"/>
                  </a:moveTo>
                  <a:cubicBezTo>
                    <a:pt x="11" y="4"/>
                    <a:pt x="11" y="4"/>
                    <a:pt x="11" y="4"/>
                  </a:cubicBezTo>
                  <a:cubicBezTo>
                    <a:pt x="12" y="2"/>
                    <a:pt x="13" y="1"/>
                    <a:pt x="14" y="1"/>
                  </a:cubicBezTo>
                  <a:cubicBezTo>
                    <a:pt x="16" y="0"/>
                    <a:pt x="17" y="0"/>
                    <a:pt x="19" y="0"/>
                  </a:cubicBezTo>
                  <a:cubicBezTo>
                    <a:pt x="24" y="0"/>
                    <a:pt x="28" y="2"/>
                    <a:pt x="28" y="8"/>
                  </a:cubicBezTo>
                  <a:cubicBezTo>
                    <a:pt x="28" y="37"/>
                    <a:pt x="28" y="37"/>
                    <a:pt x="28" y="37"/>
                  </a:cubicBezTo>
                  <a:cubicBezTo>
                    <a:pt x="18" y="37"/>
                    <a:pt x="18" y="37"/>
                    <a:pt x="18" y="37"/>
                  </a:cubicBezTo>
                  <a:cubicBezTo>
                    <a:pt x="18" y="12"/>
                    <a:pt x="18" y="12"/>
                    <a:pt x="18" y="12"/>
                  </a:cubicBezTo>
                  <a:cubicBezTo>
                    <a:pt x="18" y="8"/>
                    <a:pt x="18" y="6"/>
                    <a:pt x="14" y="6"/>
                  </a:cubicBezTo>
                  <a:cubicBezTo>
                    <a:pt x="11" y="6"/>
                    <a:pt x="11" y="8"/>
                    <a:pt x="11" y="12"/>
                  </a:cubicBezTo>
                  <a:cubicBezTo>
                    <a:pt x="11" y="37"/>
                    <a:pt x="11" y="37"/>
                    <a:pt x="11" y="37"/>
                  </a:cubicBezTo>
                  <a:cubicBezTo>
                    <a:pt x="0" y="37"/>
                    <a:pt x="0" y="37"/>
                    <a:pt x="0" y="37"/>
                  </a:cubicBezTo>
                  <a:cubicBezTo>
                    <a:pt x="0" y="0"/>
                    <a:pt x="0" y="0"/>
                    <a:pt x="0" y="0"/>
                  </a:cubicBezTo>
                  <a:cubicBezTo>
                    <a:pt x="11" y="0"/>
                    <a:pt x="11" y="0"/>
                    <a:pt x="11" y="0"/>
                  </a:cubicBezTo>
                  <a:lnTo>
                    <a:pt x="11"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8" name="Freeform 15"/>
            <p:cNvSpPr>
              <a:spLocks noEditPoints="1"/>
            </p:cNvSpPr>
            <p:nvPr/>
          </p:nvSpPr>
          <p:spPr bwMode="gray">
            <a:xfrm>
              <a:off x="6332538" y="1236663"/>
              <a:ext cx="239713" cy="442913"/>
            </a:xfrm>
            <a:custGeom>
              <a:avLst/>
              <a:gdLst>
                <a:gd name="T0" fmla="*/ 19 w 29"/>
                <a:gd name="T1" fmla="*/ 52 h 53"/>
                <a:gd name="T2" fmla="*/ 19 w 29"/>
                <a:gd name="T3" fmla="*/ 48 h 53"/>
                <a:gd name="T4" fmla="*/ 19 w 29"/>
                <a:gd name="T5" fmla="*/ 48 h 53"/>
                <a:gd name="T6" fmla="*/ 10 w 29"/>
                <a:gd name="T7" fmla="*/ 53 h 53"/>
                <a:gd name="T8" fmla="*/ 0 w 29"/>
                <a:gd name="T9" fmla="*/ 33 h 53"/>
                <a:gd name="T10" fmla="*/ 10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19 w 29"/>
                <a:gd name="T23" fmla="*/ 52 h 53"/>
                <a:gd name="T24" fmla="*/ 19 w 29"/>
                <a:gd name="T25" fmla="*/ 33 h 53"/>
                <a:gd name="T26" fmla="*/ 15 w 29"/>
                <a:gd name="T27" fmla="*/ 21 h 53"/>
                <a:gd name="T28" fmla="*/ 10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19" y="52"/>
                  </a:moveTo>
                  <a:cubicBezTo>
                    <a:pt x="19" y="48"/>
                    <a:pt x="19" y="48"/>
                    <a:pt x="19" y="48"/>
                  </a:cubicBezTo>
                  <a:cubicBezTo>
                    <a:pt x="19" y="48"/>
                    <a:pt x="19" y="48"/>
                    <a:pt x="19" y="48"/>
                  </a:cubicBezTo>
                  <a:cubicBezTo>
                    <a:pt x="17" y="51"/>
                    <a:pt x="14" y="53"/>
                    <a:pt x="10" y="53"/>
                  </a:cubicBezTo>
                  <a:cubicBezTo>
                    <a:pt x="0" y="53"/>
                    <a:pt x="0" y="41"/>
                    <a:pt x="0" y="33"/>
                  </a:cubicBezTo>
                  <a:cubicBezTo>
                    <a:pt x="0" y="26"/>
                    <a:pt x="0" y="15"/>
                    <a:pt x="10" y="15"/>
                  </a:cubicBezTo>
                  <a:cubicBezTo>
                    <a:pt x="14" y="15"/>
                    <a:pt x="16" y="16"/>
                    <a:pt x="19" y="19"/>
                  </a:cubicBezTo>
                  <a:cubicBezTo>
                    <a:pt x="19" y="19"/>
                    <a:pt x="19" y="19"/>
                    <a:pt x="19" y="19"/>
                  </a:cubicBezTo>
                  <a:cubicBezTo>
                    <a:pt x="19" y="0"/>
                    <a:pt x="19" y="0"/>
                    <a:pt x="19" y="0"/>
                  </a:cubicBezTo>
                  <a:cubicBezTo>
                    <a:pt x="29" y="0"/>
                    <a:pt x="29" y="0"/>
                    <a:pt x="29" y="0"/>
                  </a:cubicBezTo>
                  <a:cubicBezTo>
                    <a:pt x="29" y="52"/>
                    <a:pt x="29" y="52"/>
                    <a:pt x="29" y="52"/>
                  </a:cubicBezTo>
                  <a:lnTo>
                    <a:pt x="19" y="52"/>
                  </a:lnTo>
                  <a:close/>
                  <a:moveTo>
                    <a:pt x="19" y="33"/>
                  </a:moveTo>
                  <a:cubicBezTo>
                    <a:pt x="19" y="26"/>
                    <a:pt x="19" y="21"/>
                    <a:pt x="15" y="21"/>
                  </a:cubicBezTo>
                  <a:cubicBezTo>
                    <a:pt x="10" y="21"/>
                    <a:pt x="10" y="26"/>
                    <a:pt x="10" y="33"/>
                  </a:cubicBezTo>
                  <a:cubicBezTo>
                    <a:pt x="10"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9" name="Freeform 16"/>
            <p:cNvSpPr>
              <a:spLocks noEditPoints="1"/>
            </p:cNvSpPr>
            <p:nvPr/>
          </p:nvSpPr>
          <p:spPr bwMode="gray">
            <a:xfrm>
              <a:off x="4087813" y="1236663"/>
              <a:ext cx="238125" cy="442913"/>
            </a:xfrm>
            <a:custGeom>
              <a:avLst/>
              <a:gdLst>
                <a:gd name="T0" fmla="*/ 20 w 29"/>
                <a:gd name="T1" fmla="*/ 52 h 53"/>
                <a:gd name="T2" fmla="*/ 20 w 29"/>
                <a:gd name="T3" fmla="*/ 48 h 53"/>
                <a:gd name="T4" fmla="*/ 19 w 29"/>
                <a:gd name="T5" fmla="*/ 48 h 53"/>
                <a:gd name="T6" fmla="*/ 11 w 29"/>
                <a:gd name="T7" fmla="*/ 53 h 53"/>
                <a:gd name="T8" fmla="*/ 1 w 29"/>
                <a:gd name="T9" fmla="*/ 33 h 53"/>
                <a:gd name="T10" fmla="*/ 11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20 w 29"/>
                <a:gd name="T23" fmla="*/ 52 h 53"/>
                <a:gd name="T24" fmla="*/ 19 w 29"/>
                <a:gd name="T25" fmla="*/ 33 h 53"/>
                <a:gd name="T26" fmla="*/ 15 w 29"/>
                <a:gd name="T27" fmla="*/ 21 h 53"/>
                <a:gd name="T28" fmla="*/ 11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20" y="52"/>
                  </a:moveTo>
                  <a:cubicBezTo>
                    <a:pt x="20" y="48"/>
                    <a:pt x="20" y="48"/>
                    <a:pt x="20" y="48"/>
                  </a:cubicBezTo>
                  <a:cubicBezTo>
                    <a:pt x="19" y="48"/>
                    <a:pt x="19" y="48"/>
                    <a:pt x="19" y="48"/>
                  </a:cubicBezTo>
                  <a:cubicBezTo>
                    <a:pt x="18" y="51"/>
                    <a:pt x="15" y="53"/>
                    <a:pt x="11" y="53"/>
                  </a:cubicBezTo>
                  <a:cubicBezTo>
                    <a:pt x="0" y="53"/>
                    <a:pt x="1" y="41"/>
                    <a:pt x="1" y="33"/>
                  </a:cubicBezTo>
                  <a:cubicBezTo>
                    <a:pt x="1" y="26"/>
                    <a:pt x="0" y="15"/>
                    <a:pt x="11" y="15"/>
                  </a:cubicBezTo>
                  <a:cubicBezTo>
                    <a:pt x="14" y="15"/>
                    <a:pt x="17" y="16"/>
                    <a:pt x="19" y="19"/>
                  </a:cubicBezTo>
                  <a:cubicBezTo>
                    <a:pt x="19" y="19"/>
                    <a:pt x="19" y="19"/>
                    <a:pt x="19" y="19"/>
                  </a:cubicBezTo>
                  <a:cubicBezTo>
                    <a:pt x="19" y="0"/>
                    <a:pt x="19" y="0"/>
                    <a:pt x="19" y="0"/>
                  </a:cubicBezTo>
                  <a:cubicBezTo>
                    <a:pt x="29" y="0"/>
                    <a:pt x="29" y="0"/>
                    <a:pt x="29" y="0"/>
                  </a:cubicBezTo>
                  <a:cubicBezTo>
                    <a:pt x="29" y="52"/>
                    <a:pt x="29" y="52"/>
                    <a:pt x="29" y="52"/>
                  </a:cubicBezTo>
                  <a:lnTo>
                    <a:pt x="20" y="52"/>
                  </a:lnTo>
                  <a:close/>
                  <a:moveTo>
                    <a:pt x="19" y="33"/>
                  </a:moveTo>
                  <a:cubicBezTo>
                    <a:pt x="19" y="26"/>
                    <a:pt x="19" y="21"/>
                    <a:pt x="15" y="21"/>
                  </a:cubicBezTo>
                  <a:cubicBezTo>
                    <a:pt x="11" y="21"/>
                    <a:pt x="11" y="26"/>
                    <a:pt x="11" y="33"/>
                  </a:cubicBezTo>
                  <a:cubicBezTo>
                    <a:pt x="11"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0" name="Freeform 17"/>
            <p:cNvSpPr>
              <a:spLocks/>
            </p:cNvSpPr>
            <p:nvPr/>
          </p:nvSpPr>
          <p:spPr bwMode="gray">
            <a:xfrm>
              <a:off x="6761163" y="1227138"/>
              <a:ext cx="279400" cy="452438"/>
            </a:xfrm>
            <a:custGeom>
              <a:avLst/>
              <a:gdLst>
                <a:gd name="T0" fmla="*/ 16 w 34"/>
                <a:gd name="T1" fmla="*/ 54 h 54"/>
                <a:gd name="T2" fmla="*/ 1 w 34"/>
                <a:gd name="T3" fmla="*/ 37 h 54"/>
                <a:gd name="T4" fmla="*/ 11 w 34"/>
                <a:gd name="T5" fmla="*/ 37 h 54"/>
                <a:gd name="T6" fmla="*/ 18 w 34"/>
                <a:gd name="T7" fmla="*/ 46 h 54"/>
                <a:gd name="T8" fmla="*/ 23 w 34"/>
                <a:gd name="T9" fmla="*/ 40 h 54"/>
                <a:gd name="T10" fmla="*/ 1 w 34"/>
                <a:gd name="T11" fmla="*/ 14 h 54"/>
                <a:gd name="T12" fmla="*/ 18 w 34"/>
                <a:gd name="T13" fmla="*/ 0 h 54"/>
                <a:gd name="T14" fmla="*/ 34 w 34"/>
                <a:gd name="T15" fmla="*/ 15 h 54"/>
                <a:gd name="T16" fmla="*/ 23 w 34"/>
                <a:gd name="T17" fmla="*/ 15 h 54"/>
                <a:gd name="T18" fmla="*/ 18 w 34"/>
                <a:gd name="T19" fmla="*/ 8 h 54"/>
                <a:gd name="T20" fmla="*/ 12 w 34"/>
                <a:gd name="T21" fmla="*/ 13 h 54"/>
                <a:gd name="T22" fmla="*/ 34 w 34"/>
                <a:gd name="T23" fmla="*/ 39 h 54"/>
                <a:gd name="T24" fmla="*/ 16 w 3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6" y="54"/>
                  </a:moveTo>
                  <a:cubicBezTo>
                    <a:pt x="2" y="54"/>
                    <a:pt x="0" y="46"/>
                    <a:pt x="1" y="37"/>
                  </a:cubicBezTo>
                  <a:cubicBezTo>
                    <a:pt x="11" y="37"/>
                    <a:pt x="11" y="37"/>
                    <a:pt x="11" y="37"/>
                  </a:cubicBezTo>
                  <a:cubicBezTo>
                    <a:pt x="11" y="42"/>
                    <a:pt x="12" y="46"/>
                    <a:pt x="18" y="46"/>
                  </a:cubicBezTo>
                  <a:cubicBezTo>
                    <a:pt x="21" y="46"/>
                    <a:pt x="23" y="44"/>
                    <a:pt x="23" y="40"/>
                  </a:cubicBezTo>
                  <a:cubicBezTo>
                    <a:pt x="23" y="31"/>
                    <a:pt x="1" y="30"/>
                    <a:pt x="1" y="14"/>
                  </a:cubicBezTo>
                  <a:cubicBezTo>
                    <a:pt x="1" y="6"/>
                    <a:pt x="5" y="0"/>
                    <a:pt x="18" y="0"/>
                  </a:cubicBezTo>
                  <a:cubicBezTo>
                    <a:pt x="29" y="0"/>
                    <a:pt x="34" y="4"/>
                    <a:pt x="34" y="15"/>
                  </a:cubicBezTo>
                  <a:cubicBezTo>
                    <a:pt x="23" y="15"/>
                    <a:pt x="23" y="15"/>
                    <a:pt x="23" y="15"/>
                  </a:cubicBezTo>
                  <a:cubicBezTo>
                    <a:pt x="23" y="12"/>
                    <a:pt x="22" y="8"/>
                    <a:pt x="18" y="8"/>
                  </a:cubicBezTo>
                  <a:cubicBezTo>
                    <a:pt x="14" y="8"/>
                    <a:pt x="12" y="9"/>
                    <a:pt x="12" y="13"/>
                  </a:cubicBezTo>
                  <a:cubicBezTo>
                    <a:pt x="12" y="23"/>
                    <a:pt x="34" y="22"/>
                    <a:pt x="34" y="39"/>
                  </a:cubicBezTo>
                  <a:cubicBezTo>
                    <a:pt x="34" y="52"/>
                    <a:pt x="24" y="54"/>
                    <a:pt x="16" y="5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1" name="Freeform 18"/>
            <p:cNvSpPr>
              <a:spLocks noEditPoints="1"/>
            </p:cNvSpPr>
            <p:nvPr/>
          </p:nvSpPr>
          <p:spPr bwMode="gray">
            <a:xfrm>
              <a:off x="7081838" y="1362075"/>
              <a:ext cx="238125" cy="317500"/>
            </a:xfrm>
            <a:custGeom>
              <a:avLst/>
              <a:gdLst>
                <a:gd name="T0" fmla="*/ 0 w 29"/>
                <a:gd name="T1" fmla="*/ 18 h 38"/>
                <a:gd name="T2" fmla="*/ 15 w 29"/>
                <a:gd name="T3" fmla="*/ 0 h 38"/>
                <a:gd name="T4" fmla="*/ 29 w 29"/>
                <a:gd name="T5" fmla="*/ 18 h 38"/>
                <a:gd name="T6" fmla="*/ 15 w 29"/>
                <a:gd name="T7" fmla="*/ 38 h 38"/>
                <a:gd name="T8" fmla="*/ 0 w 29"/>
                <a:gd name="T9" fmla="*/ 18 h 38"/>
                <a:gd name="T10" fmla="*/ 19 w 29"/>
                <a:gd name="T11" fmla="*/ 18 h 38"/>
                <a:gd name="T12" fmla="*/ 15 w 29"/>
                <a:gd name="T13" fmla="*/ 6 h 38"/>
                <a:gd name="T14" fmla="*/ 10 w 29"/>
                <a:gd name="T15" fmla="*/ 18 h 38"/>
                <a:gd name="T16" fmla="*/ 15 w 29"/>
                <a:gd name="T17" fmla="*/ 31 h 38"/>
                <a:gd name="T18" fmla="*/ 19 w 29"/>
                <a:gd name="T19"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8">
                  <a:moveTo>
                    <a:pt x="0" y="18"/>
                  </a:moveTo>
                  <a:cubicBezTo>
                    <a:pt x="0" y="8"/>
                    <a:pt x="1" y="0"/>
                    <a:pt x="15" y="0"/>
                  </a:cubicBezTo>
                  <a:cubicBezTo>
                    <a:pt x="28" y="0"/>
                    <a:pt x="29" y="8"/>
                    <a:pt x="29" y="18"/>
                  </a:cubicBezTo>
                  <a:cubicBezTo>
                    <a:pt x="29" y="30"/>
                    <a:pt x="28" y="38"/>
                    <a:pt x="15" y="38"/>
                  </a:cubicBezTo>
                  <a:cubicBezTo>
                    <a:pt x="1" y="38"/>
                    <a:pt x="0" y="30"/>
                    <a:pt x="0" y="18"/>
                  </a:cubicBezTo>
                  <a:close/>
                  <a:moveTo>
                    <a:pt x="19" y="18"/>
                  </a:moveTo>
                  <a:cubicBezTo>
                    <a:pt x="19" y="10"/>
                    <a:pt x="19" y="6"/>
                    <a:pt x="15" y="6"/>
                  </a:cubicBezTo>
                  <a:cubicBezTo>
                    <a:pt x="10" y="6"/>
                    <a:pt x="10" y="10"/>
                    <a:pt x="10" y="18"/>
                  </a:cubicBezTo>
                  <a:cubicBezTo>
                    <a:pt x="10" y="29"/>
                    <a:pt x="11" y="31"/>
                    <a:pt x="15" y="31"/>
                  </a:cubicBezTo>
                  <a:cubicBezTo>
                    <a:pt x="18" y="31"/>
                    <a:pt x="19" y="29"/>
                    <a:pt x="19" y="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2" name="Freeform 19"/>
            <p:cNvSpPr>
              <a:spLocks/>
            </p:cNvSpPr>
            <p:nvPr/>
          </p:nvSpPr>
          <p:spPr bwMode="gray">
            <a:xfrm>
              <a:off x="7345363" y="1227138"/>
              <a:ext cx="163513" cy="444500"/>
            </a:xfrm>
            <a:custGeom>
              <a:avLst/>
              <a:gdLst>
                <a:gd name="T0" fmla="*/ 20 w 20"/>
                <a:gd name="T1" fmla="*/ 7 h 53"/>
                <a:gd name="T2" fmla="*/ 15 w 20"/>
                <a:gd name="T3" fmla="*/ 12 h 53"/>
                <a:gd name="T4" fmla="*/ 15 w 20"/>
                <a:gd name="T5" fmla="*/ 16 h 53"/>
                <a:gd name="T6" fmla="*/ 19 w 20"/>
                <a:gd name="T7" fmla="*/ 16 h 53"/>
                <a:gd name="T8" fmla="*/ 19 w 20"/>
                <a:gd name="T9" fmla="*/ 23 h 53"/>
                <a:gd name="T10" fmla="*/ 15 w 20"/>
                <a:gd name="T11" fmla="*/ 23 h 53"/>
                <a:gd name="T12" fmla="*/ 15 w 20"/>
                <a:gd name="T13" fmla="*/ 53 h 53"/>
                <a:gd name="T14" fmla="*/ 4 w 20"/>
                <a:gd name="T15" fmla="*/ 53 h 53"/>
                <a:gd name="T16" fmla="*/ 4 w 20"/>
                <a:gd name="T17" fmla="*/ 23 h 53"/>
                <a:gd name="T18" fmla="*/ 0 w 20"/>
                <a:gd name="T19" fmla="*/ 23 h 53"/>
                <a:gd name="T20" fmla="*/ 0 w 20"/>
                <a:gd name="T21" fmla="*/ 16 h 53"/>
                <a:gd name="T22" fmla="*/ 5 w 20"/>
                <a:gd name="T23" fmla="*/ 16 h 53"/>
                <a:gd name="T24" fmla="*/ 16 w 20"/>
                <a:gd name="T25" fmla="*/ 0 h 53"/>
                <a:gd name="T26" fmla="*/ 20 w 20"/>
                <a:gd name="T27" fmla="*/ 0 h 53"/>
                <a:gd name="T28" fmla="*/ 20 w 20"/>
                <a:gd name="T29"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53">
                  <a:moveTo>
                    <a:pt x="20" y="7"/>
                  </a:moveTo>
                  <a:cubicBezTo>
                    <a:pt x="16" y="7"/>
                    <a:pt x="15" y="8"/>
                    <a:pt x="15" y="12"/>
                  </a:cubicBezTo>
                  <a:cubicBezTo>
                    <a:pt x="15" y="16"/>
                    <a:pt x="15" y="16"/>
                    <a:pt x="15" y="16"/>
                  </a:cubicBezTo>
                  <a:cubicBezTo>
                    <a:pt x="19" y="16"/>
                    <a:pt x="19" y="16"/>
                    <a:pt x="19" y="16"/>
                  </a:cubicBezTo>
                  <a:cubicBezTo>
                    <a:pt x="19" y="23"/>
                    <a:pt x="19" y="23"/>
                    <a:pt x="19" y="23"/>
                  </a:cubicBezTo>
                  <a:cubicBezTo>
                    <a:pt x="15" y="23"/>
                    <a:pt x="15" y="23"/>
                    <a:pt x="15" y="23"/>
                  </a:cubicBezTo>
                  <a:cubicBezTo>
                    <a:pt x="15" y="53"/>
                    <a:pt x="15" y="53"/>
                    <a:pt x="15" y="53"/>
                  </a:cubicBezTo>
                  <a:cubicBezTo>
                    <a:pt x="4" y="53"/>
                    <a:pt x="4" y="53"/>
                    <a:pt x="4" y="53"/>
                  </a:cubicBezTo>
                  <a:cubicBezTo>
                    <a:pt x="4" y="23"/>
                    <a:pt x="4" y="23"/>
                    <a:pt x="4" y="23"/>
                  </a:cubicBezTo>
                  <a:cubicBezTo>
                    <a:pt x="0" y="23"/>
                    <a:pt x="0" y="23"/>
                    <a:pt x="0" y="23"/>
                  </a:cubicBezTo>
                  <a:cubicBezTo>
                    <a:pt x="0" y="16"/>
                    <a:pt x="0" y="16"/>
                    <a:pt x="0" y="16"/>
                  </a:cubicBezTo>
                  <a:cubicBezTo>
                    <a:pt x="5" y="16"/>
                    <a:pt x="5" y="16"/>
                    <a:pt x="5" y="16"/>
                  </a:cubicBezTo>
                  <a:cubicBezTo>
                    <a:pt x="4" y="6"/>
                    <a:pt x="4" y="0"/>
                    <a:pt x="16" y="0"/>
                  </a:cubicBezTo>
                  <a:cubicBezTo>
                    <a:pt x="17" y="0"/>
                    <a:pt x="18" y="0"/>
                    <a:pt x="20" y="0"/>
                  </a:cubicBezTo>
                  <a:lnTo>
                    <a:pt x="20" y="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3" name="Freeform 20"/>
            <p:cNvSpPr>
              <a:spLocks/>
            </p:cNvSpPr>
            <p:nvPr/>
          </p:nvSpPr>
          <p:spPr bwMode="gray">
            <a:xfrm>
              <a:off x="7542213" y="1277938"/>
              <a:ext cx="157163" cy="393700"/>
            </a:xfrm>
            <a:custGeom>
              <a:avLst/>
              <a:gdLst>
                <a:gd name="T0" fmla="*/ 0 w 19"/>
                <a:gd name="T1" fmla="*/ 10 h 47"/>
                <a:gd name="T2" fmla="*/ 4 w 19"/>
                <a:gd name="T3" fmla="*/ 10 h 47"/>
                <a:gd name="T4" fmla="*/ 4 w 19"/>
                <a:gd name="T5" fmla="*/ 4 h 47"/>
                <a:gd name="T6" fmla="*/ 14 w 19"/>
                <a:gd name="T7" fmla="*/ 0 h 47"/>
                <a:gd name="T8" fmla="*/ 14 w 19"/>
                <a:gd name="T9" fmla="*/ 10 h 47"/>
                <a:gd name="T10" fmla="*/ 19 w 19"/>
                <a:gd name="T11" fmla="*/ 10 h 47"/>
                <a:gd name="T12" fmla="*/ 19 w 19"/>
                <a:gd name="T13" fmla="*/ 17 h 47"/>
                <a:gd name="T14" fmla="*/ 14 w 19"/>
                <a:gd name="T15" fmla="*/ 17 h 47"/>
                <a:gd name="T16" fmla="*/ 14 w 19"/>
                <a:gd name="T17" fmla="*/ 36 h 47"/>
                <a:gd name="T18" fmla="*/ 17 w 19"/>
                <a:gd name="T19" fmla="*/ 41 h 47"/>
                <a:gd name="T20" fmla="*/ 19 w 19"/>
                <a:gd name="T21" fmla="*/ 41 h 47"/>
                <a:gd name="T22" fmla="*/ 19 w 19"/>
                <a:gd name="T23" fmla="*/ 47 h 47"/>
                <a:gd name="T24" fmla="*/ 14 w 19"/>
                <a:gd name="T25" fmla="*/ 47 h 47"/>
                <a:gd name="T26" fmla="*/ 4 w 19"/>
                <a:gd name="T27" fmla="*/ 39 h 47"/>
                <a:gd name="T28" fmla="*/ 4 w 19"/>
                <a:gd name="T29" fmla="*/ 17 h 47"/>
                <a:gd name="T30" fmla="*/ 0 w 19"/>
                <a:gd name="T31" fmla="*/ 17 h 47"/>
                <a:gd name="T32" fmla="*/ 0 w 19"/>
                <a:gd name="T33"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47">
                  <a:moveTo>
                    <a:pt x="0" y="10"/>
                  </a:moveTo>
                  <a:cubicBezTo>
                    <a:pt x="4" y="10"/>
                    <a:pt x="4" y="10"/>
                    <a:pt x="4" y="10"/>
                  </a:cubicBezTo>
                  <a:cubicBezTo>
                    <a:pt x="4" y="4"/>
                    <a:pt x="4" y="4"/>
                    <a:pt x="4" y="4"/>
                  </a:cubicBezTo>
                  <a:cubicBezTo>
                    <a:pt x="14" y="0"/>
                    <a:pt x="14" y="0"/>
                    <a:pt x="14" y="0"/>
                  </a:cubicBezTo>
                  <a:cubicBezTo>
                    <a:pt x="14" y="10"/>
                    <a:pt x="14" y="10"/>
                    <a:pt x="14" y="10"/>
                  </a:cubicBezTo>
                  <a:cubicBezTo>
                    <a:pt x="19" y="10"/>
                    <a:pt x="19" y="10"/>
                    <a:pt x="19" y="10"/>
                  </a:cubicBezTo>
                  <a:cubicBezTo>
                    <a:pt x="19" y="17"/>
                    <a:pt x="19" y="17"/>
                    <a:pt x="19" y="17"/>
                  </a:cubicBezTo>
                  <a:cubicBezTo>
                    <a:pt x="14" y="17"/>
                    <a:pt x="14" y="17"/>
                    <a:pt x="14" y="17"/>
                  </a:cubicBezTo>
                  <a:cubicBezTo>
                    <a:pt x="14" y="36"/>
                    <a:pt x="14" y="36"/>
                    <a:pt x="14" y="36"/>
                  </a:cubicBezTo>
                  <a:cubicBezTo>
                    <a:pt x="14" y="39"/>
                    <a:pt x="14" y="41"/>
                    <a:pt x="17" y="41"/>
                  </a:cubicBezTo>
                  <a:cubicBezTo>
                    <a:pt x="18" y="41"/>
                    <a:pt x="18" y="41"/>
                    <a:pt x="19" y="41"/>
                  </a:cubicBezTo>
                  <a:cubicBezTo>
                    <a:pt x="19" y="47"/>
                    <a:pt x="19" y="47"/>
                    <a:pt x="19" y="47"/>
                  </a:cubicBezTo>
                  <a:cubicBezTo>
                    <a:pt x="18" y="47"/>
                    <a:pt x="16" y="47"/>
                    <a:pt x="14" y="47"/>
                  </a:cubicBezTo>
                  <a:cubicBezTo>
                    <a:pt x="5" y="47"/>
                    <a:pt x="4" y="41"/>
                    <a:pt x="4" y="39"/>
                  </a:cubicBezTo>
                  <a:cubicBezTo>
                    <a:pt x="4" y="17"/>
                    <a:pt x="4" y="17"/>
                    <a:pt x="4" y="17"/>
                  </a:cubicBezTo>
                  <a:cubicBezTo>
                    <a:pt x="0" y="17"/>
                    <a:pt x="0" y="17"/>
                    <a:pt x="0" y="17"/>
                  </a:cubicBezTo>
                  <a:lnTo>
                    <a:pt x="0" y="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4" name="Freeform 21"/>
            <p:cNvSpPr>
              <a:spLocks/>
            </p:cNvSpPr>
            <p:nvPr/>
          </p:nvSpPr>
          <p:spPr bwMode="gray">
            <a:xfrm>
              <a:off x="7731126" y="1362075"/>
              <a:ext cx="452438" cy="309563"/>
            </a:xfrm>
            <a:custGeom>
              <a:avLst/>
              <a:gdLst>
                <a:gd name="T0" fmla="*/ 0 w 285"/>
                <a:gd name="T1" fmla="*/ 0 h 195"/>
                <a:gd name="T2" fmla="*/ 52 w 285"/>
                <a:gd name="T3" fmla="*/ 0 h 195"/>
                <a:gd name="T4" fmla="*/ 78 w 285"/>
                <a:gd name="T5" fmla="*/ 148 h 195"/>
                <a:gd name="T6" fmla="*/ 78 w 285"/>
                <a:gd name="T7" fmla="*/ 148 h 195"/>
                <a:gd name="T8" fmla="*/ 114 w 285"/>
                <a:gd name="T9" fmla="*/ 0 h 195"/>
                <a:gd name="T10" fmla="*/ 171 w 285"/>
                <a:gd name="T11" fmla="*/ 0 h 195"/>
                <a:gd name="T12" fmla="*/ 202 w 285"/>
                <a:gd name="T13" fmla="*/ 148 h 195"/>
                <a:gd name="T14" fmla="*/ 202 w 285"/>
                <a:gd name="T15" fmla="*/ 148 h 195"/>
                <a:gd name="T16" fmla="*/ 233 w 285"/>
                <a:gd name="T17" fmla="*/ 0 h 195"/>
                <a:gd name="T18" fmla="*/ 285 w 285"/>
                <a:gd name="T19" fmla="*/ 0 h 195"/>
                <a:gd name="T20" fmla="*/ 233 w 285"/>
                <a:gd name="T21" fmla="*/ 195 h 195"/>
                <a:gd name="T22" fmla="*/ 176 w 285"/>
                <a:gd name="T23" fmla="*/ 195 h 195"/>
                <a:gd name="T24" fmla="*/ 140 w 285"/>
                <a:gd name="T25" fmla="*/ 63 h 195"/>
                <a:gd name="T26" fmla="*/ 140 w 285"/>
                <a:gd name="T27" fmla="*/ 63 h 195"/>
                <a:gd name="T28" fmla="*/ 104 w 285"/>
                <a:gd name="T29" fmla="*/ 195 h 195"/>
                <a:gd name="T30" fmla="*/ 47 w 285"/>
                <a:gd name="T31" fmla="*/ 195 h 195"/>
                <a:gd name="T32" fmla="*/ 0 w 285"/>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5" h="195">
                  <a:moveTo>
                    <a:pt x="0" y="0"/>
                  </a:moveTo>
                  <a:lnTo>
                    <a:pt x="52" y="0"/>
                  </a:lnTo>
                  <a:lnTo>
                    <a:pt x="78" y="148"/>
                  </a:lnTo>
                  <a:lnTo>
                    <a:pt x="78" y="148"/>
                  </a:lnTo>
                  <a:lnTo>
                    <a:pt x="114" y="0"/>
                  </a:lnTo>
                  <a:lnTo>
                    <a:pt x="171" y="0"/>
                  </a:lnTo>
                  <a:lnTo>
                    <a:pt x="202" y="148"/>
                  </a:lnTo>
                  <a:lnTo>
                    <a:pt x="202" y="148"/>
                  </a:lnTo>
                  <a:lnTo>
                    <a:pt x="233" y="0"/>
                  </a:lnTo>
                  <a:lnTo>
                    <a:pt x="285" y="0"/>
                  </a:lnTo>
                  <a:lnTo>
                    <a:pt x="233" y="195"/>
                  </a:lnTo>
                  <a:lnTo>
                    <a:pt x="176" y="195"/>
                  </a:lnTo>
                  <a:lnTo>
                    <a:pt x="140" y="63"/>
                  </a:lnTo>
                  <a:lnTo>
                    <a:pt x="140" y="63"/>
                  </a:lnTo>
                  <a:lnTo>
                    <a:pt x="104" y="195"/>
                  </a:lnTo>
                  <a:lnTo>
                    <a:pt x="47"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5" name="Freeform 22"/>
            <p:cNvSpPr>
              <a:spLocks noEditPoints="1"/>
            </p:cNvSpPr>
            <p:nvPr/>
          </p:nvSpPr>
          <p:spPr bwMode="gray">
            <a:xfrm>
              <a:off x="82010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3"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6" name="Freeform 23"/>
            <p:cNvSpPr>
              <a:spLocks/>
            </p:cNvSpPr>
            <p:nvPr/>
          </p:nvSpPr>
          <p:spPr bwMode="gray">
            <a:xfrm>
              <a:off x="8496301" y="1362075"/>
              <a:ext cx="157163"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7" name="Freeform 24"/>
            <p:cNvSpPr>
              <a:spLocks noEditPoints="1"/>
            </p:cNvSpPr>
            <p:nvPr/>
          </p:nvSpPr>
          <p:spPr bwMode="gray">
            <a:xfrm>
              <a:off x="8685213" y="1362075"/>
              <a:ext cx="247650"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8" name="Freeform 25"/>
            <p:cNvSpPr>
              <a:spLocks noEditPoints="1"/>
            </p:cNvSpPr>
            <p:nvPr/>
          </p:nvSpPr>
          <p:spPr bwMode="gray">
            <a:xfrm>
              <a:off x="7920038" y="1957388"/>
              <a:ext cx="206375" cy="258763"/>
            </a:xfrm>
            <a:custGeom>
              <a:avLst/>
              <a:gdLst>
                <a:gd name="T0" fmla="*/ 9 w 25"/>
                <a:gd name="T1" fmla="*/ 17 h 31"/>
                <a:gd name="T2" fmla="*/ 13 w 25"/>
                <a:gd name="T3" fmla="*/ 26 h 31"/>
                <a:gd name="T4" fmla="*/ 16 w 25"/>
                <a:gd name="T5" fmla="*/ 20 h 31"/>
                <a:gd name="T6" fmla="*/ 25 w 25"/>
                <a:gd name="T7" fmla="*/ 20 h 31"/>
                <a:gd name="T8" fmla="*/ 22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7 w 25"/>
                <a:gd name="T21" fmla="*/ 12 h 31"/>
                <a:gd name="T22" fmla="*/ 13 w 25"/>
                <a:gd name="T23" fmla="*/ 5 h 31"/>
                <a:gd name="T24" fmla="*/ 9 w 25"/>
                <a:gd name="T25" fmla="*/ 12 h 31"/>
                <a:gd name="T26" fmla="*/ 17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4" y="26"/>
                    <a:pt x="22" y="28"/>
                  </a:cubicBezTo>
                  <a:cubicBezTo>
                    <a:pt x="20" y="30"/>
                    <a:pt x="17" y="31"/>
                    <a:pt x="13" y="31"/>
                  </a:cubicBezTo>
                  <a:cubicBezTo>
                    <a:pt x="2" y="31"/>
                    <a:pt x="0" y="24"/>
                    <a:pt x="0" y="15"/>
                  </a:cubicBezTo>
                  <a:cubicBezTo>
                    <a:pt x="0" y="7"/>
                    <a:pt x="2" y="0"/>
                    <a:pt x="13" y="0"/>
                  </a:cubicBezTo>
                  <a:cubicBezTo>
                    <a:pt x="24" y="0"/>
                    <a:pt x="25" y="7"/>
                    <a:pt x="25" y="17"/>
                  </a:cubicBezTo>
                  <a:lnTo>
                    <a:pt x="9" y="17"/>
                  </a:lnTo>
                  <a:close/>
                  <a:moveTo>
                    <a:pt x="17" y="12"/>
                  </a:moveTo>
                  <a:cubicBezTo>
                    <a:pt x="17" y="9"/>
                    <a:pt x="17" y="5"/>
                    <a:pt x="13" y="5"/>
                  </a:cubicBezTo>
                  <a:cubicBezTo>
                    <a:pt x="9" y="5"/>
                    <a:pt x="9" y="10"/>
                    <a:pt x="9" y="12"/>
                  </a:cubicBezTo>
                  <a:lnTo>
                    <a:pt x="17"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29" name="Freeform 26"/>
            <p:cNvSpPr>
              <a:spLocks noEditPoints="1"/>
            </p:cNvSpPr>
            <p:nvPr/>
          </p:nvSpPr>
          <p:spPr bwMode="gray">
            <a:xfrm>
              <a:off x="8553451" y="1957388"/>
              <a:ext cx="206375" cy="258763"/>
            </a:xfrm>
            <a:custGeom>
              <a:avLst/>
              <a:gdLst>
                <a:gd name="T0" fmla="*/ 9 w 25"/>
                <a:gd name="T1" fmla="*/ 17 h 31"/>
                <a:gd name="T2" fmla="*/ 12 w 25"/>
                <a:gd name="T3" fmla="*/ 26 h 31"/>
                <a:gd name="T4" fmla="*/ 16 w 25"/>
                <a:gd name="T5" fmla="*/ 20 h 31"/>
                <a:gd name="T6" fmla="*/ 24 w 25"/>
                <a:gd name="T7" fmla="*/ 20 h 31"/>
                <a:gd name="T8" fmla="*/ 21 w 25"/>
                <a:gd name="T9" fmla="*/ 28 h 31"/>
                <a:gd name="T10" fmla="*/ 12 w 25"/>
                <a:gd name="T11" fmla="*/ 31 h 31"/>
                <a:gd name="T12" fmla="*/ 0 w 25"/>
                <a:gd name="T13" fmla="*/ 15 h 31"/>
                <a:gd name="T14" fmla="*/ 12 w 25"/>
                <a:gd name="T15" fmla="*/ 0 h 31"/>
                <a:gd name="T16" fmla="*/ 25 w 25"/>
                <a:gd name="T17" fmla="*/ 17 h 31"/>
                <a:gd name="T18" fmla="*/ 9 w 25"/>
                <a:gd name="T19" fmla="*/ 17 h 31"/>
                <a:gd name="T20" fmla="*/ 16 w 25"/>
                <a:gd name="T21" fmla="*/ 12 h 31"/>
                <a:gd name="T22" fmla="*/ 12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2" y="26"/>
                  </a:cubicBezTo>
                  <a:cubicBezTo>
                    <a:pt x="15" y="26"/>
                    <a:pt x="16" y="23"/>
                    <a:pt x="16" y="20"/>
                  </a:cubicBezTo>
                  <a:cubicBezTo>
                    <a:pt x="24" y="20"/>
                    <a:pt x="24" y="20"/>
                    <a:pt x="24" y="20"/>
                  </a:cubicBezTo>
                  <a:cubicBezTo>
                    <a:pt x="24" y="24"/>
                    <a:pt x="23" y="26"/>
                    <a:pt x="21" y="28"/>
                  </a:cubicBezTo>
                  <a:cubicBezTo>
                    <a:pt x="19" y="30"/>
                    <a:pt x="16" y="31"/>
                    <a:pt x="12" y="31"/>
                  </a:cubicBezTo>
                  <a:cubicBezTo>
                    <a:pt x="2" y="31"/>
                    <a:pt x="0" y="24"/>
                    <a:pt x="0" y="15"/>
                  </a:cubicBezTo>
                  <a:cubicBezTo>
                    <a:pt x="0" y="7"/>
                    <a:pt x="1" y="0"/>
                    <a:pt x="12" y="0"/>
                  </a:cubicBezTo>
                  <a:cubicBezTo>
                    <a:pt x="24" y="0"/>
                    <a:pt x="25" y="7"/>
                    <a:pt x="25" y="17"/>
                  </a:cubicBezTo>
                  <a:lnTo>
                    <a:pt x="9" y="17"/>
                  </a:lnTo>
                  <a:close/>
                  <a:moveTo>
                    <a:pt x="16" y="12"/>
                  </a:moveTo>
                  <a:cubicBezTo>
                    <a:pt x="16" y="9"/>
                    <a:pt x="16" y="5"/>
                    <a:pt x="12"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 name="Freeform 27"/>
            <p:cNvSpPr>
              <a:spLocks/>
            </p:cNvSpPr>
            <p:nvPr/>
          </p:nvSpPr>
          <p:spPr bwMode="gray">
            <a:xfrm>
              <a:off x="3263901" y="1855788"/>
              <a:ext cx="198438" cy="352425"/>
            </a:xfrm>
            <a:custGeom>
              <a:avLst/>
              <a:gdLst>
                <a:gd name="T0" fmla="*/ 0 w 125"/>
                <a:gd name="T1" fmla="*/ 222 h 222"/>
                <a:gd name="T2" fmla="*/ 0 w 125"/>
                <a:gd name="T3" fmla="*/ 0 h 222"/>
                <a:gd name="T4" fmla="*/ 125 w 125"/>
                <a:gd name="T5" fmla="*/ 0 h 222"/>
                <a:gd name="T6" fmla="*/ 125 w 125"/>
                <a:gd name="T7" fmla="*/ 32 h 222"/>
                <a:gd name="T8" fmla="*/ 47 w 125"/>
                <a:gd name="T9" fmla="*/ 32 h 222"/>
                <a:gd name="T10" fmla="*/ 47 w 125"/>
                <a:gd name="T11" fmla="*/ 90 h 222"/>
                <a:gd name="T12" fmla="*/ 114 w 125"/>
                <a:gd name="T13" fmla="*/ 90 h 222"/>
                <a:gd name="T14" fmla="*/ 114 w 125"/>
                <a:gd name="T15" fmla="*/ 122 h 222"/>
                <a:gd name="T16" fmla="*/ 47 w 125"/>
                <a:gd name="T17" fmla="*/ 122 h 222"/>
                <a:gd name="T18" fmla="*/ 47 w 125"/>
                <a:gd name="T19" fmla="*/ 190 h 222"/>
                <a:gd name="T20" fmla="*/ 125 w 125"/>
                <a:gd name="T21" fmla="*/ 190 h 222"/>
                <a:gd name="T22" fmla="*/ 125 w 125"/>
                <a:gd name="T23" fmla="*/ 222 h 222"/>
                <a:gd name="T24" fmla="*/ 0 w 125"/>
                <a:gd name="T25"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2">
                  <a:moveTo>
                    <a:pt x="0" y="222"/>
                  </a:moveTo>
                  <a:lnTo>
                    <a:pt x="0" y="0"/>
                  </a:lnTo>
                  <a:lnTo>
                    <a:pt x="125" y="0"/>
                  </a:lnTo>
                  <a:lnTo>
                    <a:pt x="125" y="32"/>
                  </a:lnTo>
                  <a:lnTo>
                    <a:pt x="47" y="32"/>
                  </a:lnTo>
                  <a:lnTo>
                    <a:pt x="47" y="90"/>
                  </a:lnTo>
                  <a:lnTo>
                    <a:pt x="114" y="90"/>
                  </a:lnTo>
                  <a:lnTo>
                    <a:pt x="114" y="122"/>
                  </a:lnTo>
                  <a:lnTo>
                    <a:pt x="47" y="122"/>
                  </a:lnTo>
                  <a:lnTo>
                    <a:pt x="47" y="190"/>
                  </a:lnTo>
                  <a:lnTo>
                    <a:pt x="125" y="190"/>
                  </a:lnTo>
                  <a:lnTo>
                    <a:pt x="125"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1" name="Freeform 28"/>
            <p:cNvSpPr>
              <a:spLocks/>
            </p:cNvSpPr>
            <p:nvPr/>
          </p:nvSpPr>
          <p:spPr bwMode="gray">
            <a:xfrm>
              <a:off x="3503613" y="1957388"/>
              <a:ext cx="188913"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10" y="2"/>
                    <a:pt x="11"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5"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2" name="Freeform 29"/>
            <p:cNvSpPr>
              <a:spLocks noEditPoints="1"/>
            </p:cNvSpPr>
            <p:nvPr/>
          </p:nvSpPr>
          <p:spPr bwMode="gray">
            <a:xfrm>
              <a:off x="3741738" y="1957388"/>
              <a:ext cx="196850"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2 w 24"/>
                <a:gd name="T13" fmla="*/ 37 h 42"/>
                <a:gd name="T14" fmla="*/ 16 w 24"/>
                <a:gd name="T15" fmla="*/ 32 h 42"/>
                <a:gd name="T16" fmla="*/ 16 w 24"/>
                <a:gd name="T17" fmla="*/ 27 h 42"/>
                <a:gd name="T18" fmla="*/ 15 w 24"/>
                <a:gd name="T19" fmla="*/ 27 h 42"/>
                <a:gd name="T20" fmla="*/ 9 w 24"/>
                <a:gd name="T21" fmla="*/ 30 h 42"/>
                <a:gd name="T22" fmla="*/ 0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6" y="42"/>
                    <a:pt x="1" y="40"/>
                    <a:pt x="1" y="33"/>
                  </a:cubicBezTo>
                  <a:cubicBezTo>
                    <a:pt x="9" y="33"/>
                    <a:pt x="9" y="33"/>
                    <a:pt x="9" y="33"/>
                  </a:cubicBezTo>
                  <a:cubicBezTo>
                    <a:pt x="9" y="34"/>
                    <a:pt x="9" y="35"/>
                    <a:pt x="10" y="36"/>
                  </a:cubicBezTo>
                  <a:cubicBezTo>
                    <a:pt x="10" y="37"/>
                    <a:pt x="11" y="37"/>
                    <a:pt x="12" y="37"/>
                  </a:cubicBezTo>
                  <a:cubicBezTo>
                    <a:pt x="15" y="37"/>
                    <a:pt x="16" y="35"/>
                    <a:pt x="16" y="32"/>
                  </a:cubicBezTo>
                  <a:cubicBezTo>
                    <a:pt x="16" y="27"/>
                    <a:pt x="16" y="27"/>
                    <a:pt x="16" y="27"/>
                  </a:cubicBezTo>
                  <a:cubicBezTo>
                    <a:pt x="15" y="27"/>
                    <a:pt x="15" y="27"/>
                    <a:pt x="15" y="27"/>
                  </a:cubicBezTo>
                  <a:cubicBezTo>
                    <a:pt x="14" y="29"/>
                    <a:pt x="12" y="30"/>
                    <a:pt x="9" y="30"/>
                  </a:cubicBezTo>
                  <a:cubicBezTo>
                    <a:pt x="0" y="30"/>
                    <a:pt x="0" y="22"/>
                    <a:pt x="0" y="15"/>
                  </a:cubicBezTo>
                  <a:cubicBezTo>
                    <a:pt x="0" y="8"/>
                    <a:pt x="0"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3" name="Rectangle 30"/>
            <p:cNvSpPr>
              <a:spLocks noChangeArrowheads="1"/>
            </p:cNvSpPr>
            <p:nvPr/>
          </p:nvSpPr>
          <p:spPr bwMode="gray">
            <a:xfrm>
              <a:off x="3997326" y="1965325"/>
              <a:ext cx="73025" cy="24288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3074" name="Freeform 31"/>
            <p:cNvSpPr>
              <a:spLocks/>
            </p:cNvSpPr>
            <p:nvPr/>
          </p:nvSpPr>
          <p:spPr bwMode="gray">
            <a:xfrm>
              <a:off x="4127501" y="1957388"/>
              <a:ext cx="190500"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9" y="2"/>
                    <a:pt x="10"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4"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5" name="Freeform 32"/>
            <p:cNvSpPr>
              <a:spLocks noEditPoints="1"/>
            </p:cNvSpPr>
            <p:nvPr/>
          </p:nvSpPr>
          <p:spPr bwMode="gray">
            <a:xfrm>
              <a:off x="4359276"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3" y="26"/>
                    <a:pt x="21" y="28"/>
                  </a:cubicBezTo>
                  <a:cubicBezTo>
                    <a:pt x="19" y="30"/>
                    <a:pt x="17"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6" name="Freeform 33"/>
            <p:cNvSpPr>
              <a:spLocks noEditPoints="1"/>
            </p:cNvSpPr>
            <p:nvPr/>
          </p:nvSpPr>
          <p:spPr bwMode="gray">
            <a:xfrm>
              <a:off x="4597401"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8" name="Freeform 34"/>
            <p:cNvSpPr>
              <a:spLocks/>
            </p:cNvSpPr>
            <p:nvPr/>
          </p:nvSpPr>
          <p:spPr bwMode="gray">
            <a:xfrm>
              <a:off x="48434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9" name="Freeform 35"/>
            <p:cNvSpPr>
              <a:spLocks noEditPoints="1"/>
            </p:cNvSpPr>
            <p:nvPr/>
          </p:nvSpPr>
          <p:spPr bwMode="gray">
            <a:xfrm>
              <a:off x="4992688"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1" y="0"/>
                    <a:pt x="13" y="0"/>
                  </a:cubicBezTo>
                  <a:cubicBezTo>
                    <a:pt x="24" y="0"/>
                    <a:pt x="25" y="7"/>
                    <a:pt x="25" y="17"/>
                  </a:cubicBezTo>
                  <a:lnTo>
                    <a:pt x="9" y="17"/>
                  </a:lnTo>
                  <a:close/>
                  <a:moveTo>
                    <a:pt x="16" y="12"/>
                  </a:moveTo>
                  <a:cubicBezTo>
                    <a:pt x="16" y="9"/>
                    <a:pt x="16"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0" name="Freeform 36"/>
            <p:cNvSpPr>
              <a:spLocks noEditPoints="1"/>
            </p:cNvSpPr>
            <p:nvPr/>
          </p:nvSpPr>
          <p:spPr bwMode="gray">
            <a:xfrm>
              <a:off x="5230813" y="1855788"/>
              <a:ext cx="196850" cy="360363"/>
            </a:xfrm>
            <a:custGeom>
              <a:avLst/>
              <a:gdLst>
                <a:gd name="T0" fmla="*/ 16 w 24"/>
                <a:gd name="T1" fmla="*/ 42 h 43"/>
                <a:gd name="T2" fmla="*/ 16 w 24"/>
                <a:gd name="T3" fmla="*/ 39 h 43"/>
                <a:gd name="T4" fmla="*/ 16 w 24"/>
                <a:gd name="T5" fmla="*/ 39 h 43"/>
                <a:gd name="T6" fmla="*/ 9 w 24"/>
                <a:gd name="T7" fmla="*/ 43 h 43"/>
                <a:gd name="T8" fmla="*/ 0 w 24"/>
                <a:gd name="T9" fmla="*/ 27 h 43"/>
                <a:gd name="T10" fmla="*/ 9 w 24"/>
                <a:gd name="T11" fmla="*/ 12 h 43"/>
                <a:gd name="T12" fmla="*/ 15 w 24"/>
                <a:gd name="T13" fmla="*/ 15 h 43"/>
                <a:gd name="T14" fmla="*/ 15 w 24"/>
                <a:gd name="T15" fmla="*/ 15 h 43"/>
                <a:gd name="T16" fmla="*/ 15 w 24"/>
                <a:gd name="T17" fmla="*/ 0 h 43"/>
                <a:gd name="T18" fmla="*/ 24 w 24"/>
                <a:gd name="T19" fmla="*/ 0 h 43"/>
                <a:gd name="T20" fmla="*/ 24 w 24"/>
                <a:gd name="T21" fmla="*/ 42 h 43"/>
                <a:gd name="T22" fmla="*/ 16 w 24"/>
                <a:gd name="T23" fmla="*/ 42 h 43"/>
                <a:gd name="T24" fmla="*/ 15 w 24"/>
                <a:gd name="T25" fmla="*/ 27 h 43"/>
                <a:gd name="T26" fmla="*/ 12 w 24"/>
                <a:gd name="T27" fmla="*/ 17 h 43"/>
                <a:gd name="T28" fmla="*/ 9 w 24"/>
                <a:gd name="T29" fmla="*/ 27 h 43"/>
                <a:gd name="T30" fmla="*/ 12 w 24"/>
                <a:gd name="T31" fmla="*/ 38 h 43"/>
                <a:gd name="T32" fmla="*/ 15 w 24"/>
                <a:gd name="T33"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43">
                  <a:moveTo>
                    <a:pt x="16" y="42"/>
                  </a:moveTo>
                  <a:cubicBezTo>
                    <a:pt x="16" y="39"/>
                    <a:pt x="16" y="39"/>
                    <a:pt x="16" y="39"/>
                  </a:cubicBezTo>
                  <a:cubicBezTo>
                    <a:pt x="16" y="39"/>
                    <a:pt x="16" y="39"/>
                    <a:pt x="16" y="39"/>
                  </a:cubicBezTo>
                  <a:cubicBezTo>
                    <a:pt x="14" y="42"/>
                    <a:pt x="12" y="43"/>
                    <a:pt x="9" y="43"/>
                  </a:cubicBezTo>
                  <a:cubicBezTo>
                    <a:pt x="0" y="43"/>
                    <a:pt x="0" y="33"/>
                    <a:pt x="0" y="27"/>
                  </a:cubicBezTo>
                  <a:cubicBezTo>
                    <a:pt x="0" y="21"/>
                    <a:pt x="0" y="12"/>
                    <a:pt x="9" y="12"/>
                  </a:cubicBezTo>
                  <a:cubicBezTo>
                    <a:pt x="12" y="12"/>
                    <a:pt x="14" y="13"/>
                    <a:pt x="15" y="15"/>
                  </a:cubicBezTo>
                  <a:cubicBezTo>
                    <a:pt x="15" y="15"/>
                    <a:pt x="15" y="15"/>
                    <a:pt x="15" y="15"/>
                  </a:cubicBezTo>
                  <a:cubicBezTo>
                    <a:pt x="15" y="0"/>
                    <a:pt x="15" y="0"/>
                    <a:pt x="15" y="0"/>
                  </a:cubicBezTo>
                  <a:cubicBezTo>
                    <a:pt x="24" y="0"/>
                    <a:pt x="24" y="0"/>
                    <a:pt x="24" y="0"/>
                  </a:cubicBezTo>
                  <a:cubicBezTo>
                    <a:pt x="24" y="42"/>
                    <a:pt x="24" y="42"/>
                    <a:pt x="24" y="42"/>
                  </a:cubicBezTo>
                  <a:lnTo>
                    <a:pt x="16" y="42"/>
                  </a:lnTo>
                  <a:close/>
                  <a:moveTo>
                    <a:pt x="15" y="27"/>
                  </a:moveTo>
                  <a:cubicBezTo>
                    <a:pt x="15" y="21"/>
                    <a:pt x="16" y="17"/>
                    <a:pt x="12" y="17"/>
                  </a:cubicBezTo>
                  <a:cubicBezTo>
                    <a:pt x="8" y="17"/>
                    <a:pt x="9" y="21"/>
                    <a:pt x="9" y="27"/>
                  </a:cubicBezTo>
                  <a:cubicBezTo>
                    <a:pt x="9" y="35"/>
                    <a:pt x="9" y="38"/>
                    <a:pt x="12" y="38"/>
                  </a:cubicBezTo>
                  <a:cubicBezTo>
                    <a:pt x="15" y="38"/>
                    <a:pt x="15" y="35"/>
                    <a:pt x="15" y="27"/>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1" name="Freeform 37"/>
            <p:cNvSpPr>
              <a:spLocks/>
            </p:cNvSpPr>
            <p:nvPr/>
          </p:nvSpPr>
          <p:spPr bwMode="gray">
            <a:xfrm>
              <a:off x="5584826" y="1889125"/>
              <a:ext cx="131763" cy="327025"/>
            </a:xfrm>
            <a:custGeom>
              <a:avLst/>
              <a:gdLst>
                <a:gd name="T0" fmla="*/ 0 w 16"/>
                <a:gd name="T1" fmla="*/ 9 h 39"/>
                <a:gd name="T2" fmla="*/ 4 w 16"/>
                <a:gd name="T3" fmla="*/ 9 h 39"/>
                <a:gd name="T4" fmla="*/ 4 w 16"/>
                <a:gd name="T5" fmla="*/ 4 h 39"/>
                <a:gd name="T6" fmla="*/ 12 w 16"/>
                <a:gd name="T7" fmla="*/ 0 h 39"/>
                <a:gd name="T8" fmla="*/ 12 w 16"/>
                <a:gd name="T9" fmla="*/ 9 h 39"/>
                <a:gd name="T10" fmla="*/ 16 w 16"/>
                <a:gd name="T11" fmla="*/ 9 h 39"/>
                <a:gd name="T12" fmla="*/ 16 w 16"/>
                <a:gd name="T13" fmla="*/ 14 h 39"/>
                <a:gd name="T14" fmla="*/ 12 w 16"/>
                <a:gd name="T15" fmla="*/ 14 h 39"/>
                <a:gd name="T16" fmla="*/ 12 w 16"/>
                <a:gd name="T17" fmla="*/ 30 h 39"/>
                <a:gd name="T18" fmla="*/ 15 w 16"/>
                <a:gd name="T19" fmla="*/ 33 h 39"/>
                <a:gd name="T20" fmla="*/ 16 w 16"/>
                <a:gd name="T21" fmla="*/ 33 h 39"/>
                <a:gd name="T22" fmla="*/ 16 w 16"/>
                <a:gd name="T23" fmla="*/ 38 h 39"/>
                <a:gd name="T24" fmla="*/ 12 w 16"/>
                <a:gd name="T25" fmla="*/ 39 h 39"/>
                <a:gd name="T26" fmla="*/ 4 w 16"/>
                <a:gd name="T27" fmla="*/ 32 h 39"/>
                <a:gd name="T28" fmla="*/ 4 w 16"/>
                <a:gd name="T29" fmla="*/ 14 h 39"/>
                <a:gd name="T30" fmla="*/ 0 w 16"/>
                <a:gd name="T31" fmla="*/ 14 h 39"/>
                <a:gd name="T32" fmla="*/ 0 w 16"/>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9">
                  <a:moveTo>
                    <a:pt x="0" y="9"/>
                  </a:moveTo>
                  <a:cubicBezTo>
                    <a:pt x="4" y="9"/>
                    <a:pt x="4" y="9"/>
                    <a:pt x="4" y="9"/>
                  </a:cubicBezTo>
                  <a:cubicBezTo>
                    <a:pt x="4" y="4"/>
                    <a:pt x="4" y="4"/>
                    <a:pt x="4" y="4"/>
                  </a:cubicBezTo>
                  <a:cubicBezTo>
                    <a:pt x="12" y="0"/>
                    <a:pt x="12" y="0"/>
                    <a:pt x="12" y="0"/>
                  </a:cubicBezTo>
                  <a:cubicBezTo>
                    <a:pt x="12" y="9"/>
                    <a:pt x="12" y="9"/>
                    <a:pt x="12" y="9"/>
                  </a:cubicBezTo>
                  <a:cubicBezTo>
                    <a:pt x="16" y="9"/>
                    <a:pt x="16" y="9"/>
                    <a:pt x="16" y="9"/>
                  </a:cubicBezTo>
                  <a:cubicBezTo>
                    <a:pt x="16" y="14"/>
                    <a:pt x="16" y="14"/>
                    <a:pt x="16"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4"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2" name="Freeform 38"/>
            <p:cNvSpPr>
              <a:spLocks noEditPoints="1"/>
            </p:cNvSpPr>
            <p:nvPr/>
          </p:nvSpPr>
          <p:spPr bwMode="gray">
            <a:xfrm>
              <a:off x="5740401" y="1957388"/>
              <a:ext cx="206375" cy="258763"/>
            </a:xfrm>
            <a:custGeom>
              <a:avLst/>
              <a:gdLst>
                <a:gd name="T0" fmla="*/ 0 w 25"/>
                <a:gd name="T1" fmla="*/ 15 h 31"/>
                <a:gd name="T2" fmla="*/ 13 w 25"/>
                <a:gd name="T3" fmla="*/ 0 h 31"/>
                <a:gd name="T4" fmla="*/ 25 w 25"/>
                <a:gd name="T5" fmla="*/ 15 h 31"/>
                <a:gd name="T6" fmla="*/ 13 w 25"/>
                <a:gd name="T7" fmla="*/ 31 h 31"/>
                <a:gd name="T8" fmla="*/ 0 w 25"/>
                <a:gd name="T9" fmla="*/ 15 h 31"/>
                <a:gd name="T10" fmla="*/ 16 w 25"/>
                <a:gd name="T11" fmla="*/ 15 h 31"/>
                <a:gd name="T12" fmla="*/ 13 w 25"/>
                <a:gd name="T13" fmla="*/ 5 h 31"/>
                <a:gd name="T14" fmla="*/ 9 w 25"/>
                <a:gd name="T15" fmla="*/ 15 h 31"/>
                <a:gd name="T16" fmla="*/ 13 w 25"/>
                <a:gd name="T17" fmla="*/ 26 h 31"/>
                <a:gd name="T18" fmla="*/ 16 w 25"/>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1">
                  <a:moveTo>
                    <a:pt x="0" y="15"/>
                  </a:moveTo>
                  <a:cubicBezTo>
                    <a:pt x="0" y="7"/>
                    <a:pt x="1" y="0"/>
                    <a:pt x="13" y="0"/>
                  </a:cubicBezTo>
                  <a:cubicBezTo>
                    <a:pt x="24" y="0"/>
                    <a:pt x="25" y="7"/>
                    <a:pt x="25" y="15"/>
                  </a:cubicBezTo>
                  <a:cubicBezTo>
                    <a:pt x="25" y="24"/>
                    <a:pt x="23" y="31"/>
                    <a:pt x="13" y="31"/>
                  </a:cubicBezTo>
                  <a:cubicBezTo>
                    <a:pt x="2" y="31"/>
                    <a:pt x="0" y="24"/>
                    <a:pt x="0" y="15"/>
                  </a:cubicBezTo>
                  <a:close/>
                  <a:moveTo>
                    <a:pt x="16" y="15"/>
                  </a:moveTo>
                  <a:cubicBezTo>
                    <a:pt x="16" y="8"/>
                    <a:pt x="16" y="5"/>
                    <a:pt x="13" y="5"/>
                  </a:cubicBezTo>
                  <a:cubicBezTo>
                    <a:pt x="9" y="5"/>
                    <a:pt x="9" y="8"/>
                    <a:pt x="9" y="15"/>
                  </a:cubicBezTo>
                  <a:cubicBezTo>
                    <a:pt x="9" y="24"/>
                    <a:pt x="9" y="26"/>
                    <a:pt x="13" y="26"/>
                  </a:cubicBezTo>
                  <a:cubicBezTo>
                    <a:pt x="16"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3" name="Freeform 39"/>
            <p:cNvSpPr>
              <a:spLocks/>
            </p:cNvSpPr>
            <p:nvPr/>
          </p:nvSpPr>
          <p:spPr bwMode="gray">
            <a:xfrm>
              <a:off x="6069013" y="1855788"/>
              <a:ext cx="436563" cy="352425"/>
            </a:xfrm>
            <a:custGeom>
              <a:avLst/>
              <a:gdLst>
                <a:gd name="T0" fmla="*/ 0 w 275"/>
                <a:gd name="T1" fmla="*/ 0 h 222"/>
                <a:gd name="T2" fmla="*/ 52 w 275"/>
                <a:gd name="T3" fmla="*/ 0 h 222"/>
                <a:gd name="T4" fmla="*/ 78 w 275"/>
                <a:gd name="T5" fmla="*/ 159 h 222"/>
                <a:gd name="T6" fmla="*/ 78 w 275"/>
                <a:gd name="T7" fmla="*/ 159 h 222"/>
                <a:gd name="T8" fmla="*/ 114 w 275"/>
                <a:gd name="T9" fmla="*/ 0 h 222"/>
                <a:gd name="T10" fmla="*/ 171 w 275"/>
                <a:gd name="T11" fmla="*/ 0 h 222"/>
                <a:gd name="T12" fmla="*/ 203 w 275"/>
                <a:gd name="T13" fmla="*/ 159 h 222"/>
                <a:gd name="T14" fmla="*/ 203 w 275"/>
                <a:gd name="T15" fmla="*/ 159 h 222"/>
                <a:gd name="T16" fmla="*/ 234 w 275"/>
                <a:gd name="T17" fmla="*/ 0 h 222"/>
                <a:gd name="T18" fmla="*/ 275 w 275"/>
                <a:gd name="T19" fmla="*/ 0 h 222"/>
                <a:gd name="T20" fmla="*/ 228 w 275"/>
                <a:gd name="T21" fmla="*/ 222 h 222"/>
                <a:gd name="T22" fmla="*/ 177 w 275"/>
                <a:gd name="T23" fmla="*/ 222 h 222"/>
                <a:gd name="T24" fmla="*/ 140 w 275"/>
                <a:gd name="T25" fmla="*/ 58 h 222"/>
                <a:gd name="T26" fmla="*/ 140 w 275"/>
                <a:gd name="T27" fmla="*/ 58 h 222"/>
                <a:gd name="T28" fmla="*/ 104 w 275"/>
                <a:gd name="T29" fmla="*/ 222 h 222"/>
                <a:gd name="T30" fmla="*/ 52 w 275"/>
                <a:gd name="T31" fmla="*/ 222 h 222"/>
                <a:gd name="T32" fmla="*/ 0 w 275"/>
                <a:gd name="T3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5" h="222">
                  <a:moveTo>
                    <a:pt x="0" y="0"/>
                  </a:moveTo>
                  <a:lnTo>
                    <a:pt x="52" y="0"/>
                  </a:lnTo>
                  <a:lnTo>
                    <a:pt x="78" y="159"/>
                  </a:lnTo>
                  <a:lnTo>
                    <a:pt x="78" y="159"/>
                  </a:lnTo>
                  <a:lnTo>
                    <a:pt x="114" y="0"/>
                  </a:lnTo>
                  <a:lnTo>
                    <a:pt x="171" y="0"/>
                  </a:lnTo>
                  <a:lnTo>
                    <a:pt x="203" y="159"/>
                  </a:lnTo>
                  <a:lnTo>
                    <a:pt x="203" y="159"/>
                  </a:lnTo>
                  <a:lnTo>
                    <a:pt x="234" y="0"/>
                  </a:lnTo>
                  <a:lnTo>
                    <a:pt x="275" y="0"/>
                  </a:lnTo>
                  <a:lnTo>
                    <a:pt x="228" y="222"/>
                  </a:lnTo>
                  <a:lnTo>
                    <a:pt x="177" y="222"/>
                  </a:lnTo>
                  <a:lnTo>
                    <a:pt x="140" y="58"/>
                  </a:lnTo>
                  <a:lnTo>
                    <a:pt x="140" y="58"/>
                  </a:lnTo>
                  <a:lnTo>
                    <a:pt x="104" y="222"/>
                  </a:lnTo>
                  <a:lnTo>
                    <a:pt x="52" y="222"/>
                  </a:lnTo>
                  <a:lnTo>
                    <a:pt x="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4" name="Freeform 40"/>
            <p:cNvSpPr>
              <a:spLocks noEditPoints="1"/>
            </p:cNvSpPr>
            <p:nvPr/>
          </p:nvSpPr>
          <p:spPr bwMode="gray">
            <a:xfrm>
              <a:off x="6513513" y="1957388"/>
              <a:ext cx="198438"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5" y="5"/>
                    <a:pt x="12" y="5"/>
                  </a:cubicBezTo>
                  <a:cubicBezTo>
                    <a:pt x="8"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5" name="Freeform 41"/>
            <p:cNvSpPr>
              <a:spLocks/>
            </p:cNvSpPr>
            <p:nvPr/>
          </p:nvSpPr>
          <p:spPr bwMode="gray">
            <a:xfrm>
              <a:off x="67611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6" name="Freeform 42"/>
            <p:cNvSpPr>
              <a:spLocks/>
            </p:cNvSpPr>
            <p:nvPr/>
          </p:nvSpPr>
          <p:spPr bwMode="gray">
            <a:xfrm>
              <a:off x="6924676" y="1855788"/>
              <a:ext cx="206375" cy="352425"/>
            </a:xfrm>
            <a:custGeom>
              <a:avLst/>
              <a:gdLst>
                <a:gd name="T0" fmla="*/ 0 w 130"/>
                <a:gd name="T1" fmla="*/ 222 h 222"/>
                <a:gd name="T2" fmla="*/ 0 w 130"/>
                <a:gd name="T3" fmla="*/ 0 h 222"/>
                <a:gd name="T4" fmla="*/ 42 w 130"/>
                <a:gd name="T5" fmla="*/ 0 h 222"/>
                <a:gd name="T6" fmla="*/ 42 w 130"/>
                <a:gd name="T7" fmla="*/ 132 h 222"/>
                <a:gd name="T8" fmla="*/ 42 w 130"/>
                <a:gd name="T9" fmla="*/ 132 h 222"/>
                <a:gd name="T10" fmla="*/ 83 w 130"/>
                <a:gd name="T11" fmla="*/ 69 h 222"/>
                <a:gd name="T12" fmla="*/ 125 w 130"/>
                <a:gd name="T13" fmla="*/ 69 h 222"/>
                <a:gd name="T14" fmla="*/ 83 w 130"/>
                <a:gd name="T15" fmla="*/ 137 h 222"/>
                <a:gd name="T16" fmla="*/ 130 w 130"/>
                <a:gd name="T17" fmla="*/ 222 h 222"/>
                <a:gd name="T18" fmla="*/ 83 w 130"/>
                <a:gd name="T19" fmla="*/ 222 h 222"/>
                <a:gd name="T20" fmla="*/ 42 w 130"/>
                <a:gd name="T21" fmla="*/ 137 h 222"/>
                <a:gd name="T22" fmla="*/ 42 w 130"/>
                <a:gd name="T23" fmla="*/ 137 h 222"/>
                <a:gd name="T24" fmla="*/ 42 w 130"/>
                <a:gd name="T25" fmla="*/ 222 h 222"/>
                <a:gd name="T26" fmla="*/ 0 w 130"/>
                <a:gd name="T2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222">
                  <a:moveTo>
                    <a:pt x="0" y="222"/>
                  </a:moveTo>
                  <a:lnTo>
                    <a:pt x="0" y="0"/>
                  </a:lnTo>
                  <a:lnTo>
                    <a:pt x="42" y="0"/>
                  </a:lnTo>
                  <a:lnTo>
                    <a:pt x="42" y="132"/>
                  </a:lnTo>
                  <a:lnTo>
                    <a:pt x="42" y="132"/>
                  </a:lnTo>
                  <a:lnTo>
                    <a:pt x="83" y="69"/>
                  </a:lnTo>
                  <a:lnTo>
                    <a:pt x="125" y="69"/>
                  </a:lnTo>
                  <a:lnTo>
                    <a:pt x="83" y="137"/>
                  </a:lnTo>
                  <a:lnTo>
                    <a:pt x="130" y="222"/>
                  </a:lnTo>
                  <a:lnTo>
                    <a:pt x="83" y="222"/>
                  </a:lnTo>
                  <a:lnTo>
                    <a:pt x="42" y="137"/>
                  </a:lnTo>
                  <a:lnTo>
                    <a:pt x="42" y="137"/>
                  </a:lnTo>
                  <a:lnTo>
                    <a:pt x="42"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7" name="Freeform 43"/>
            <p:cNvSpPr>
              <a:spLocks/>
            </p:cNvSpPr>
            <p:nvPr/>
          </p:nvSpPr>
          <p:spPr bwMode="gray">
            <a:xfrm>
              <a:off x="7229476" y="1855788"/>
              <a:ext cx="238125" cy="352425"/>
            </a:xfrm>
            <a:custGeom>
              <a:avLst/>
              <a:gdLst>
                <a:gd name="T0" fmla="*/ 150 w 150"/>
                <a:gd name="T1" fmla="*/ 0 h 222"/>
                <a:gd name="T2" fmla="*/ 150 w 150"/>
                <a:gd name="T3" fmla="*/ 37 h 222"/>
                <a:gd name="T4" fmla="*/ 99 w 150"/>
                <a:gd name="T5" fmla="*/ 37 h 222"/>
                <a:gd name="T6" fmla="*/ 99 w 150"/>
                <a:gd name="T7" fmla="*/ 222 h 222"/>
                <a:gd name="T8" fmla="*/ 52 w 150"/>
                <a:gd name="T9" fmla="*/ 222 h 222"/>
                <a:gd name="T10" fmla="*/ 52 w 150"/>
                <a:gd name="T11" fmla="*/ 37 h 222"/>
                <a:gd name="T12" fmla="*/ 0 w 150"/>
                <a:gd name="T13" fmla="*/ 37 h 222"/>
                <a:gd name="T14" fmla="*/ 0 w 150"/>
                <a:gd name="T15" fmla="*/ 0 h 222"/>
                <a:gd name="T16" fmla="*/ 150 w 150"/>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22">
                  <a:moveTo>
                    <a:pt x="150" y="0"/>
                  </a:moveTo>
                  <a:lnTo>
                    <a:pt x="150" y="37"/>
                  </a:lnTo>
                  <a:lnTo>
                    <a:pt x="99" y="37"/>
                  </a:lnTo>
                  <a:lnTo>
                    <a:pt x="99" y="222"/>
                  </a:lnTo>
                  <a:lnTo>
                    <a:pt x="52" y="222"/>
                  </a:lnTo>
                  <a:lnTo>
                    <a:pt x="52" y="37"/>
                  </a:lnTo>
                  <a:lnTo>
                    <a:pt x="0" y="37"/>
                  </a:lnTo>
                  <a:lnTo>
                    <a:pt x="0" y="0"/>
                  </a:lnTo>
                  <a:lnTo>
                    <a:pt x="15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8" name="Freeform 44"/>
            <p:cNvSpPr>
              <a:spLocks noEditPoints="1"/>
            </p:cNvSpPr>
            <p:nvPr/>
          </p:nvSpPr>
          <p:spPr bwMode="gray">
            <a:xfrm>
              <a:off x="7443788" y="1957388"/>
              <a:ext cx="196850"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6" y="5"/>
                    <a:pt x="12" y="5"/>
                  </a:cubicBezTo>
                  <a:cubicBezTo>
                    <a:pt x="9"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9" name="Freeform 45"/>
            <p:cNvSpPr>
              <a:spLocks noEditPoints="1"/>
            </p:cNvSpPr>
            <p:nvPr/>
          </p:nvSpPr>
          <p:spPr bwMode="gray">
            <a:xfrm>
              <a:off x="7681913" y="1957388"/>
              <a:ext cx="198438"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3 w 24"/>
                <a:gd name="T13" fmla="*/ 37 h 42"/>
                <a:gd name="T14" fmla="*/ 16 w 24"/>
                <a:gd name="T15" fmla="*/ 32 h 42"/>
                <a:gd name="T16" fmla="*/ 16 w 24"/>
                <a:gd name="T17" fmla="*/ 27 h 42"/>
                <a:gd name="T18" fmla="*/ 16 w 24"/>
                <a:gd name="T19" fmla="*/ 27 h 42"/>
                <a:gd name="T20" fmla="*/ 9 w 24"/>
                <a:gd name="T21" fmla="*/ 30 h 42"/>
                <a:gd name="T22" fmla="*/ 1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7" y="42"/>
                    <a:pt x="1" y="40"/>
                    <a:pt x="1" y="33"/>
                  </a:cubicBezTo>
                  <a:cubicBezTo>
                    <a:pt x="9" y="33"/>
                    <a:pt x="9" y="33"/>
                    <a:pt x="9" y="33"/>
                  </a:cubicBezTo>
                  <a:cubicBezTo>
                    <a:pt x="9" y="34"/>
                    <a:pt x="9" y="35"/>
                    <a:pt x="10" y="36"/>
                  </a:cubicBezTo>
                  <a:cubicBezTo>
                    <a:pt x="10" y="37"/>
                    <a:pt x="11" y="37"/>
                    <a:pt x="13" y="37"/>
                  </a:cubicBezTo>
                  <a:cubicBezTo>
                    <a:pt x="15" y="37"/>
                    <a:pt x="16" y="35"/>
                    <a:pt x="16" y="32"/>
                  </a:cubicBezTo>
                  <a:cubicBezTo>
                    <a:pt x="16" y="27"/>
                    <a:pt x="16" y="27"/>
                    <a:pt x="16" y="27"/>
                  </a:cubicBezTo>
                  <a:cubicBezTo>
                    <a:pt x="16" y="27"/>
                    <a:pt x="16" y="27"/>
                    <a:pt x="16" y="27"/>
                  </a:cubicBezTo>
                  <a:cubicBezTo>
                    <a:pt x="14" y="29"/>
                    <a:pt x="12" y="30"/>
                    <a:pt x="9" y="30"/>
                  </a:cubicBezTo>
                  <a:cubicBezTo>
                    <a:pt x="0" y="30"/>
                    <a:pt x="1" y="22"/>
                    <a:pt x="1" y="15"/>
                  </a:cubicBezTo>
                  <a:cubicBezTo>
                    <a:pt x="1" y="8"/>
                    <a:pt x="1"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0" name="Freeform 46"/>
            <p:cNvSpPr>
              <a:spLocks/>
            </p:cNvSpPr>
            <p:nvPr/>
          </p:nvSpPr>
          <p:spPr bwMode="gray">
            <a:xfrm>
              <a:off x="8142288" y="1889125"/>
              <a:ext cx="139700" cy="327025"/>
            </a:xfrm>
            <a:custGeom>
              <a:avLst/>
              <a:gdLst>
                <a:gd name="T0" fmla="*/ 0 w 17"/>
                <a:gd name="T1" fmla="*/ 9 h 39"/>
                <a:gd name="T2" fmla="*/ 4 w 17"/>
                <a:gd name="T3" fmla="*/ 9 h 39"/>
                <a:gd name="T4" fmla="*/ 4 w 17"/>
                <a:gd name="T5" fmla="*/ 4 h 39"/>
                <a:gd name="T6" fmla="*/ 12 w 17"/>
                <a:gd name="T7" fmla="*/ 0 h 39"/>
                <a:gd name="T8" fmla="*/ 12 w 17"/>
                <a:gd name="T9" fmla="*/ 9 h 39"/>
                <a:gd name="T10" fmla="*/ 17 w 17"/>
                <a:gd name="T11" fmla="*/ 9 h 39"/>
                <a:gd name="T12" fmla="*/ 17 w 17"/>
                <a:gd name="T13" fmla="*/ 14 h 39"/>
                <a:gd name="T14" fmla="*/ 12 w 17"/>
                <a:gd name="T15" fmla="*/ 14 h 39"/>
                <a:gd name="T16" fmla="*/ 12 w 17"/>
                <a:gd name="T17" fmla="*/ 30 h 39"/>
                <a:gd name="T18" fmla="*/ 15 w 17"/>
                <a:gd name="T19" fmla="*/ 33 h 39"/>
                <a:gd name="T20" fmla="*/ 16 w 17"/>
                <a:gd name="T21" fmla="*/ 33 h 39"/>
                <a:gd name="T22" fmla="*/ 16 w 17"/>
                <a:gd name="T23" fmla="*/ 38 h 39"/>
                <a:gd name="T24" fmla="*/ 12 w 17"/>
                <a:gd name="T25" fmla="*/ 39 h 39"/>
                <a:gd name="T26" fmla="*/ 4 w 17"/>
                <a:gd name="T27" fmla="*/ 32 h 39"/>
                <a:gd name="T28" fmla="*/ 4 w 17"/>
                <a:gd name="T29" fmla="*/ 14 h 39"/>
                <a:gd name="T30" fmla="*/ 0 w 17"/>
                <a:gd name="T31" fmla="*/ 14 h 39"/>
                <a:gd name="T32" fmla="*/ 0 w 17"/>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39">
                  <a:moveTo>
                    <a:pt x="0" y="9"/>
                  </a:moveTo>
                  <a:cubicBezTo>
                    <a:pt x="4" y="9"/>
                    <a:pt x="4" y="9"/>
                    <a:pt x="4" y="9"/>
                  </a:cubicBezTo>
                  <a:cubicBezTo>
                    <a:pt x="4" y="4"/>
                    <a:pt x="4" y="4"/>
                    <a:pt x="4" y="4"/>
                  </a:cubicBezTo>
                  <a:cubicBezTo>
                    <a:pt x="12" y="0"/>
                    <a:pt x="12" y="0"/>
                    <a:pt x="12" y="0"/>
                  </a:cubicBezTo>
                  <a:cubicBezTo>
                    <a:pt x="12" y="9"/>
                    <a:pt x="12" y="9"/>
                    <a:pt x="12" y="9"/>
                  </a:cubicBezTo>
                  <a:cubicBezTo>
                    <a:pt x="17" y="9"/>
                    <a:pt x="17" y="9"/>
                    <a:pt x="17" y="9"/>
                  </a:cubicBezTo>
                  <a:cubicBezTo>
                    <a:pt x="17" y="14"/>
                    <a:pt x="17" y="14"/>
                    <a:pt x="17"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5"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1" name="Freeform 47"/>
            <p:cNvSpPr>
              <a:spLocks/>
            </p:cNvSpPr>
            <p:nvPr/>
          </p:nvSpPr>
          <p:spPr bwMode="gray">
            <a:xfrm>
              <a:off x="8323263" y="1855788"/>
              <a:ext cx="190500" cy="352425"/>
            </a:xfrm>
            <a:custGeom>
              <a:avLst/>
              <a:gdLst>
                <a:gd name="T0" fmla="*/ 14 w 23"/>
                <a:gd name="T1" fmla="*/ 42 h 42"/>
                <a:gd name="T2" fmla="*/ 14 w 23"/>
                <a:gd name="T3" fmla="*/ 22 h 42"/>
                <a:gd name="T4" fmla="*/ 11 w 23"/>
                <a:gd name="T5" fmla="*/ 17 h 42"/>
                <a:gd name="T6" fmla="*/ 8 w 23"/>
                <a:gd name="T7" fmla="*/ 22 h 42"/>
                <a:gd name="T8" fmla="*/ 8 w 23"/>
                <a:gd name="T9" fmla="*/ 42 h 42"/>
                <a:gd name="T10" fmla="*/ 0 w 23"/>
                <a:gd name="T11" fmla="*/ 42 h 42"/>
                <a:gd name="T12" fmla="*/ 0 w 23"/>
                <a:gd name="T13" fmla="*/ 0 h 42"/>
                <a:gd name="T14" fmla="*/ 8 w 23"/>
                <a:gd name="T15" fmla="*/ 0 h 42"/>
                <a:gd name="T16" fmla="*/ 8 w 23"/>
                <a:gd name="T17" fmla="*/ 16 h 42"/>
                <a:gd name="T18" fmla="*/ 8 w 23"/>
                <a:gd name="T19" fmla="*/ 16 h 42"/>
                <a:gd name="T20" fmla="*/ 11 w 23"/>
                <a:gd name="T21" fmla="*/ 13 h 42"/>
                <a:gd name="T22" fmla="*/ 15 w 23"/>
                <a:gd name="T23" fmla="*/ 12 h 42"/>
                <a:gd name="T24" fmla="*/ 23 w 23"/>
                <a:gd name="T25" fmla="*/ 18 h 42"/>
                <a:gd name="T26" fmla="*/ 23 w 23"/>
                <a:gd name="T27" fmla="*/ 42 h 42"/>
                <a:gd name="T28" fmla="*/ 14 w 23"/>
                <a:gd name="T29"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42">
                  <a:moveTo>
                    <a:pt x="14" y="42"/>
                  </a:moveTo>
                  <a:cubicBezTo>
                    <a:pt x="14" y="22"/>
                    <a:pt x="14" y="22"/>
                    <a:pt x="14" y="22"/>
                  </a:cubicBezTo>
                  <a:cubicBezTo>
                    <a:pt x="14" y="19"/>
                    <a:pt x="14" y="17"/>
                    <a:pt x="11" y="17"/>
                  </a:cubicBezTo>
                  <a:cubicBezTo>
                    <a:pt x="9" y="17"/>
                    <a:pt x="8" y="19"/>
                    <a:pt x="8" y="22"/>
                  </a:cubicBezTo>
                  <a:cubicBezTo>
                    <a:pt x="8" y="42"/>
                    <a:pt x="8" y="42"/>
                    <a:pt x="8" y="42"/>
                  </a:cubicBezTo>
                  <a:cubicBezTo>
                    <a:pt x="0" y="42"/>
                    <a:pt x="0" y="42"/>
                    <a:pt x="0" y="42"/>
                  </a:cubicBezTo>
                  <a:cubicBezTo>
                    <a:pt x="0" y="0"/>
                    <a:pt x="0" y="0"/>
                    <a:pt x="0" y="0"/>
                  </a:cubicBezTo>
                  <a:cubicBezTo>
                    <a:pt x="8" y="0"/>
                    <a:pt x="8" y="0"/>
                    <a:pt x="8" y="0"/>
                  </a:cubicBezTo>
                  <a:cubicBezTo>
                    <a:pt x="8" y="16"/>
                    <a:pt x="8" y="16"/>
                    <a:pt x="8" y="16"/>
                  </a:cubicBezTo>
                  <a:cubicBezTo>
                    <a:pt x="8" y="16"/>
                    <a:pt x="8" y="16"/>
                    <a:pt x="8" y="16"/>
                  </a:cubicBezTo>
                  <a:cubicBezTo>
                    <a:pt x="9" y="14"/>
                    <a:pt x="10" y="13"/>
                    <a:pt x="11" y="13"/>
                  </a:cubicBezTo>
                  <a:cubicBezTo>
                    <a:pt x="12" y="12"/>
                    <a:pt x="14" y="12"/>
                    <a:pt x="15" y="12"/>
                  </a:cubicBezTo>
                  <a:cubicBezTo>
                    <a:pt x="19" y="12"/>
                    <a:pt x="23" y="14"/>
                    <a:pt x="23" y="18"/>
                  </a:cubicBezTo>
                  <a:cubicBezTo>
                    <a:pt x="23" y="42"/>
                    <a:pt x="23" y="42"/>
                    <a:pt x="23" y="42"/>
                  </a:cubicBezTo>
                  <a:lnTo>
                    <a:pt x="14" y="4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2" name="Freeform 48"/>
            <p:cNvSpPr>
              <a:spLocks/>
            </p:cNvSpPr>
            <p:nvPr/>
          </p:nvSpPr>
          <p:spPr bwMode="gray">
            <a:xfrm>
              <a:off x="8801101" y="1957388"/>
              <a:ext cx="123825" cy="250825"/>
            </a:xfrm>
            <a:custGeom>
              <a:avLst/>
              <a:gdLst>
                <a:gd name="T0" fmla="*/ 8 w 15"/>
                <a:gd name="T1" fmla="*/ 1 h 30"/>
                <a:gd name="T2" fmla="*/ 8 w 15"/>
                <a:gd name="T3" fmla="*/ 4 h 30"/>
                <a:gd name="T4" fmla="*/ 8 w 15"/>
                <a:gd name="T5" fmla="*/ 4 h 30"/>
                <a:gd name="T6" fmla="*/ 15 w 15"/>
                <a:gd name="T7" fmla="*/ 0 h 30"/>
                <a:gd name="T8" fmla="*/ 15 w 15"/>
                <a:gd name="T9" fmla="*/ 7 h 30"/>
                <a:gd name="T10" fmla="*/ 8 w 15"/>
                <a:gd name="T11" fmla="*/ 14 h 30"/>
                <a:gd name="T12" fmla="*/ 8 w 15"/>
                <a:gd name="T13" fmla="*/ 30 h 30"/>
                <a:gd name="T14" fmla="*/ 0 w 15"/>
                <a:gd name="T15" fmla="*/ 30 h 30"/>
                <a:gd name="T16" fmla="*/ 0 w 15"/>
                <a:gd name="T17" fmla="*/ 1 h 30"/>
                <a:gd name="T18" fmla="*/ 8 w 15"/>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0">
                  <a:moveTo>
                    <a:pt x="8" y="1"/>
                  </a:moveTo>
                  <a:cubicBezTo>
                    <a:pt x="8" y="4"/>
                    <a:pt x="8" y="4"/>
                    <a:pt x="8" y="4"/>
                  </a:cubicBezTo>
                  <a:cubicBezTo>
                    <a:pt x="8" y="4"/>
                    <a:pt x="8" y="4"/>
                    <a:pt x="8" y="4"/>
                  </a:cubicBezTo>
                  <a:cubicBezTo>
                    <a:pt x="9" y="1"/>
                    <a:pt x="12" y="0"/>
                    <a:pt x="15" y="0"/>
                  </a:cubicBezTo>
                  <a:cubicBezTo>
                    <a:pt x="15" y="7"/>
                    <a:pt x="15" y="7"/>
                    <a:pt x="15"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grpSp>
    </p:spTree>
    <p:extLst>
      <p:ext uri="{BB962C8B-B14F-4D97-AF65-F5344CB8AC3E}">
        <p14:creationId xmlns:p14="http://schemas.microsoft.com/office/powerpoint/2010/main" val="370913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106575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AD8BE6-AA7C-4328-9B9F-94628525022E}" type="datetime1">
              <a:rPr lang="en-US" smtClean="0"/>
              <a:pPr/>
              <a:t>11/8/2019</a:t>
            </a:fld>
            <a:endParaRPr lang="en-US"/>
          </a:p>
        </p:txBody>
      </p:sp>
      <p:sp>
        <p:nvSpPr>
          <p:cNvPr id="5" name="Footer Placeholder 4"/>
          <p:cNvSpPr>
            <a:spLocks noGrp="1"/>
          </p:cNvSpPr>
          <p:nvPr>
            <p:ph type="ftr" sz="quarter" idx="11"/>
          </p:nvPr>
        </p:nvSpPr>
        <p:spPr/>
        <p:txBody>
          <a:bodyPr/>
          <a:lstStyle/>
          <a:p>
            <a:r>
              <a:rPr lang="en-US"/>
              <a:t>Oracle Confidential – Internal/Restricted/Highly Restricted</a:t>
            </a:r>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a:p>
        </p:txBody>
      </p:sp>
    </p:spTree>
    <p:extLst>
      <p:ext uri="{BB962C8B-B14F-4D97-AF65-F5344CB8AC3E}">
        <p14:creationId xmlns:p14="http://schemas.microsoft.com/office/powerpoint/2010/main" val="3862187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B8E2682-7303-4393-9F25-7F1900A10367}" type="datetime1">
              <a:rPr lang="en-US" smtClean="0"/>
              <a:pPr/>
              <a:t>11/8/2019</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val="217345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F58637A1-2757-41E8-AD98-43E9D0558D9A}" type="datetime1">
              <a:rPr lang="en-US" smtClean="0"/>
              <a:pPr/>
              <a:t>11/8/2019</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a:t>Oracle Confidential –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2014</a:t>
            </a:r>
            <a:r>
              <a:rPr lang="en-US" sz="850" dirty="0">
                <a:solidFill>
                  <a:schemeClr val="tx1"/>
                </a:solidFill>
              </a:rPr>
              <a:t>,</a:t>
            </a:r>
            <a:r>
              <a:rPr sz="850" dirty="0">
                <a:solidFill>
                  <a:schemeClr val="tx1"/>
                </a:solidFill>
              </a:rPr>
              <a:t> Oracle and/or its affiliates. All rights reserved.  |</a:t>
            </a:r>
          </a:p>
        </p:txBody>
      </p:sp>
      <p:pic>
        <p:nvPicPr>
          <p:cNvPr id="19" name="Picture 18" descr="Oracle logo in white on red staging background"/>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nvGraphicFramePr>
        <p:xfrm>
          <a:off x="2983650" y="1143000"/>
          <a:ext cx="6858001" cy="4038598"/>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836084">
                  <a:extLst>
                    <a:ext uri="{9D8B030D-6E8A-4147-A177-3AD203B41FA5}">
                      <a16:colId xmlns:a16="http://schemas.microsoft.com/office/drawing/2014/main" val="20001"/>
                    </a:ext>
                  </a:extLst>
                </a:gridCol>
                <a:gridCol w="846667">
                  <a:extLst>
                    <a:ext uri="{9D8B030D-6E8A-4147-A177-3AD203B41FA5}">
                      <a16:colId xmlns:a16="http://schemas.microsoft.com/office/drawing/2014/main" val="20002"/>
                    </a:ext>
                  </a:extLst>
                </a:gridCol>
                <a:gridCol w="931333">
                  <a:extLst>
                    <a:ext uri="{9D8B030D-6E8A-4147-A177-3AD203B41FA5}">
                      <a16:colId xmlns:a16="http://schemas.microsoft.com/office/drawing/2014/main" val="20003"/>
                    </a:ext>
                  </a:extLst>
                </a:gridCol>
                <a:gridCol w="931333">
                  <a:extLst>
                    <a:ext uri="{9D8B030D-6E8A-4147-A177-3AD203B41FA5}">
                      <a16:colId xmlns:a16="http://schemas.microsoft.com/office/drawing/2014/main" val="20004"/>
                    </a:ext>
                  </a:extLst>
                </a:gridCol>
                <a:gridCol w="855133">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762001">
                  <a:extLst>
                    <a:ext uri="{9D8B030D-6E8A-4147-A177-3AD203B41FA5}">
                      <a16:colId xmlns:a16="http://schemas.microsoft.com/office/drawing/2014/main" val="20007"/>
                    </a:ext>
                  </a:extLst>
                </a:gridCol>
              </a:tblGrid>
              <a:tr h="366180">
                <a:tc>
                  <a:txBody>
                    <a:bodyPr/>
                    <a:lstStyle/>
                    <a:p>
                      <a:r>
                        <a:rPr lang="en-US" dirty="0"/>
                        <a:t>30</a:t>
                      </a:r>
                    </a:p>
                  </a:txBody>
                  <a:tcPr>
                    <a:solidFill>
                      <a:schemeClr val="accent5">
                        <a:lumMod val="75000"/>
                      </a:schemeClr>
                    </a:solidFill>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r h="640814">
                <a:tc>
                  <a:txBody>
                    <a:bodyPr/>
                    <a:lstStyle/>
                    <a:p>
                      <a:r>
                        <a:rPr lang="en-US" dirty="0"/>
                        <a:t>25</a:t>
                      </a:r>
                    </a:p>
                  </a:txBody>
                  <a:tcPr>
                    <a:solidFill>
                      <a:schemeClr val="accent5">
                        <a:lumMod val="75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p>
                      <a:endParaRPr lang="en-US" dirty="0"/>
                    </a:p>
                  </a:txBody>
                  <a:tcPr/>
                </a:tc>
                <a:tc>
                  <a:txBody>
                    <a:bodyPr/>
                    <a:lstStyle/>
                    <a:p>
                      <a:endParaRPr lang="en-US"/>
                    </a:p>
                  </a:txBody>
                  <a:tcPr/>
                </a:tc>
                <a:extLst>
                  <a:ext uri="{0D108BD9-81ED-4DB2-BD59-A6C34878D82A}">
                    <a16:rowId xmlns:a16="http://schemas.microsoft.com/office/drawing/2014/main" val="10001"/>
                  </a:ext>
                </a:extLst>
              </a:tr>
              <a:tr h="640814">
                <a:tc>
                  <a:txBody>
                    <a:bodyPr/>
                    <a:lstStyle/>
                    <a:p>
                      <a:r>
                        <a:rPr lang="en-US" dirty="0"/>
                        <a:t>20</a:t>
                      </a:r>
                    </a:p>
                  </a:txBody>
                  <a:tcPr>
                    <a:solidFill>
                      <a:schemeClr val="accent5">
                        <a:lumMod val="75000"/>
                      </a:schemeClr>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p>
                      <a:endParaRPr lang="en-US" dirty="0"/>
                    </a:p>
                  </a:txBody>
                  <a:tcPr/>
                </a:tc>
                <a:tc>
                  <a:txBody>
                    <a:bodyPr/>
                    <a:lstStyle/>
                    <a:p>
                      <a:endParaRPr lang="en-US"/>
                    </a:p>
                  </a:txBody>
                  <a:tcPr/>
                </a:tc>
                <a:extLst>
                  <a:ext uri="{0D108BD9-81ED-4DB2-BD59-A6C34878D82A}">
                    <a16:rowId xmlns:a16="http://schemas.microsoft.com/office/drawing/2014/main" val="10002"/>
                  </a:ext>
                </a:extLst>
              </a:tr>
              <a:tr h="640814">
                <a:tc>
                  <a:txBody>
                    <a:bodyPr/>
                    <a:lstStyle/>
                    <a:p>
                      <a:r>
                        <a:rPr lang="en-US" dirty="0"/>
                        <a:t>15</a:t>
                      </a:r>
                    </a:p>
                  </a:txBody>
                  <a:tcPr>
                    <a:solidFill>
                      <a:schemeClr val="accent5">
                        <a:lumMod val="75000"/>
                      </a:schemeClr>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p>
                      <a:endParaRPr lang="en-US" dirty="0"/>
                    </a:p>
                  </a:txBody>
                  <a:tcPr/>
                </a:tc>
                <a:tc>
                  <a:txBody>
                    <a:bodyPr/>
                    <a:lstStyle/>
                    <a:p>
                      <a:endParaRPr lang="en-US"/>
                    </a:p>
                  </a:txBody>
                  <a:tcPr/>
                </a:tc>
                <a:extLst>
                  <a:ext uri="{0D108BD9-81ED-4DB2-BD59-A6C34878D82A}">
                    <a16:rowId xmlns:a16="http://schemas.microsoft.com/office/drawing/2014/main" val="10003"/>
                  </a:ext>
                </a:extLst>
              </a:tr>
              <a:tr h="640814">
                <a:tc>
                  <a:txBody>
                    <a:bodyPr/>
                    <a:lstStyle/>
                    <a:p>
                      <a:r>
                        <a:rPr lang="en-US" dirty="0"/>
                        <a:t>10</a:t>
                      </a:r>
                    </a:p>
                  </a:txBody>
                  <a:tcPr>
                    <a:solidFill>
                      <a:schemeClr val="accent5">
                        <a:lumMod val="75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p>
                      <a:endParaRPr lang="en-US" dirty="0"/>
                    </a:p>
                  </a:txBody>
                  <a:tcPr/>
                </a:tc>
                <a:tc>
                  <a:txBody>
                    <a:bodyPr/>
                    <a:lstStyle/>
                    <a:p>
                      <a:endParaRPr lang="en-US" dirty="0"/>
                    </a:p>
                  </a:txBody>
                  <a:tcPr/>
                </a:tc>
                <a:extLst>
                  <a:ext uri="{0D108BD9-81ED-4DB2-BD59-A6C34878D82A}">
                    <a16:rowId xmlns:a16="http://schemas.microsoft.com/office/drawing/2014/main" val="10004"/>
                  </a:ext>
                </a:extLst>
              </a:tr>
              <a:tr h="640814">
                <a:tc>
                  <a:txBody>
                    <a:bodyPr/>
                    <a:lstStyle/>
                    <a:p>
                      <a:r>
                        <a:rPr lang="en-US" dirty="0"/>
                        <a:t>5</a:t>
                      </a:r>
                    </a:p>
                  </a:txBody>
                  <a:tcPr>
                    <a:solidFill>
                      <a:schemeClr val="accent5">
                        <a:lumMod val="75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p>
                      <a:endParaRPr lang="en-US" dirty="0"/>
                    </a:p>
                  </a:txBody>
                  <a:tcPr/>
                </a:tc>
                <a:tc>
                  <a:txBody>
                    <a:bodyPr/>
                    <a:lstStyle/>
                    <a:p>
                      <a:endParaRPr lang="en-US"/>
                    </a:p>
                  </a:txBody>
                  <a:tcPr/>
                </a:tc>
                <a:extLst>
                  <a:ext uri="{0D108BD9-81ED-4DB2-BD59-A6C34878D82A}">
                    <a16:rowId xmlns:a16="http://schemas.microsoft.com/office/drawing/2014/main" val="10005"/>
                  </a:ext>
                </a:extLst>
              </a:tr>
              <a:tr h="468348">
                <a:tc>
                  <a:txBody>
                    <a:bodyPr/>
                    <a:lstStyle/>
                    <a:p>
                      <a:r>
                        <a:rPr lang="en-US" dirty="0"/>
                        <a:t>0</a:t>
                      </a:r>
                    </a:p>
                  </a:txBody>
                  <a:tcPr>
                    <a:solidFill>
                      <a:schemeClr val="accent5">
                        <a:lumMod val="75000"/>
                      </a:schemeClr>
                    </a:solidFill>
                  </a:tcPr>
                </a:tc>
                <a:tc>
                  <a:txBody>
                    <a:bodyPr/>
                    <a:lstStyle/>
                    <a:p>
                      <a:r>
                        <a:rPr lang="en-US" sz="1100" dirty="0"/>
                        <a:t>1-Oct-11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7-Oct-11</a:t>
                      </a:r>
                      <a:endParaRPr lang="en-US" dirty="0"/>
                    </a:p>
                  </a:txBody>
                  <a:tcPr/>
                </a:tc>
                <a:tc>
                  <a:txBody>
                    <a:bodyPr/>
                    <a:lstStyle/>
                    <a:p>
                      <a:r>
                        <a:rPr lang="en-US" sz="1050" dirty="0"/>
                        <a:t>14-Oct-11</a:t>
                      </a:r>
                    </a:p>
                  </a:txBody>
                  <a:tcPr/>
                </a:tc>
                <a:tc>
                  <a:txBody>
                    <a:bodyPr/>
                    <a:lstStyle/>
                    <a:p>
                      <a:r>
                        <a:rPr lang="en-US" sz="1100" dirty="0"/>
                        <a:t>20-Oct-11</a:t>
                      </a:r>
                      <a:endParaRPr lang="en-US" sz="1800" dirty="0"/>
                    </a:p>
                  </a:txBody>
                  <a:tcPr/>
                </a:tc>
                <a:tc>
                  <a:txBody>
                    <a:bodyPr/>
                    <a:lstStyle/>
                    <a:p>
                      <a:r>
                        <a:rPr lang="en-US" sz="1100" dirty="0"/>
                        <a:t>27-Oct-11</a:t>
                      </a:r>
                      <a:endParaRPr 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2-Nov-11</a:t>
                      </a: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9-Nov-11</a:t>
                      </a:r>
                    </a:p>
                  </a:txBody>
                  <a:tcPr/>
                </a:tc>
                <a:extLst>
                  <a:ext uri="{0D108BD9-81ED-4DB2-BD59-A6C34878D82A}">
                    <a16:rowId xmlns:a16="http://schemas.microsoft.com/office/drawing/2014/main" val="10006"/>
                  </a:ext>
                </a:extLst>
              </a:tr>
            </a:tbl>
          </a:graphicData>
        </a:graphic>
      </p:graphicFrame>
      <p:sp>
        <p:nvSpPr>
          <p:cNvPr id="21" name="TextBox 4"/>
          <p:cNvSpPr txBox="1">
            <a:spLocks noChangeArrowheads="1"/>
          </p:cNvSpPr>
          <p:nvPr/>
        </p:nvSpPr>
        <p:spPr bwMode="auto">
          <a:xfrm>
            <a:off x="1383450" y="2819400"/>
            <a:ext cx="1524000" cy="1077218"/>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2000" b="1" dirty="0"/>
              <a:t>Remaining</a:t>
            </a:r>
            <a:br>
              <a:rPr lang="en-US" sz="2000" b="1" dirty="0"/>
            </a:br>
            <a:r>
              <a:rPr lang="en-US" sz="2000" b="1" dirty="0"/>
              <a:t>Effort</a:t>
            </a:r>
          </a:p>
          <a:p>
            <a:pPr algn="ctr">
              <a:lnSpc>
                <a:spcPct val="90000"/>
              </a:lnSpc>
              <a:spcBef>
                <a:spcPct val="50000"/>
              </a:spcBef>
              <a:buClr>
                <a:schemeClr val="accent1"/>
              </a:buClr>
            </a:pPr>
            <a:r>
              <a:rPr lang="en-US" sz="2000" b="1" dirty="0"/>
              <a:t>(days)</a:t>
            </a:r>
          </a:p>
        </p:txBody>
      </p:sp>
      <p:sp>
        <p:nvSpPr>
          <p:cNvPr id="22" name="TextBox 12"/>
          <p:cNvSpPr txBox="1">
            <a:spLocks noChangeArrowheads="1"/>
          </p:cNvSpPr>
          <p:nvPr/>
        </p:nvSpPr>
        <p:spPr bwMode="auto">
          <a:xfrm>
            <a:off x="5574450" y="5257800"/>
            <a:ext cx="1162050" cy="369888"/>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dirty="0"/>
              <a:t> </a:t>
            </a:r>
            <a:r>
              <a:rPr lang="en-US" sz="2000" b="1" dirty="0"/>
              <a:t>Date</a:t>
            </a:r>
          </a:p>
        </p:txBody>
      </p:sp>
      <p:cxnSp>
        <p:nvCxnSpPr>
          <p:cNvPr id="23" name="Straight Arrow Connector 14"/>
          <p:cNvCxnSpPr>
            <a:cxnSpLocks noChangeShapeType="1"/>
          </p:cNvCxnSpPr>
          <p:nvPr/>
        </p:nvCxnSpPr>
        <p:spPr bwMode="auto">
          <a:xfrm>
            <a:off x="3821850" y="1524000"/>
            <a:ext cx="838200" cy="609600"/>
          </a:xfrm>
          <a:prstGeom prst="straightConnector1">
            <a:avLst/>
          </a:prstGeom>
          <a:noFill/>
          <a:ln w="28575" algn="ctr">
            <a:solidFill>
              <a:schemeClr val="tx2"/>
            </a:solidFill>
            <a:round/>
            <a:headEnd type="oval" w="med" len="med"/>
            <a:tailEnd type="oval" w="med" len="med"/>
          </a:ln>
        </p:spPr>
      </p:cxnSp>
      <p:sp>
        <p:nvSpPr>
          <p:cNvPr id="24" name="TextBox 20"/>
          <p:cNvSpPr txBox="1">
            <a:spLocks noChangeArrowheads="1"/>
          </p:cNvSpPr>
          <p:nvPr/>
        </p:nvSpPr>
        <p:spPr bwMode="auto">
          <a:xfrm>
            <a:off x="4268443" y="685800"/>
            <a:ext cx="2948564" cy="369332"/>
          </a:xfrm>
          <a:prstGeom prst="rect">
            <a:avLst/>
          </a:prstGeom>
          <a:noFill/>
          <a:ln w="9525">
            <a:noFill/>
            <a:miter lim="800000"/>
            <a:headEnd/>
            <a:tailEnd/>
          </a:ln>
        </p:spPr>
        <p:txBody>
          <a:bodyPr wrap="none">
            <a:spAutoFit/>
          </a:bodyPr>
          <a:lstStyle/>
          <a:p>
            <a:pPr algn="ctr">
              <a:lnSpc>
                <a:spcPct val="90000"/>
              </a:lnSpc>
              <a:spcBef>
                <a:spcPct val="50000"/>
              </a:spcBef>
              <a:buClr>
                <a:schemeClr val="accent1"/>
              </a:buClr>
            </a:pPr>
            <a:r>
              <a:rPr lang="en-US" sz="2000" b="1" dirty="0"/>
              <a:t>Sprint #1 </a:t>
            </a:r>
            <a:r>
              <a:rPr lang="en-US" sz="2000" b="1" dirty="0" err="1"/>
              <a:t>Burndown</a:t>
            </a:r>
            <a:r>
              <a:rPr lang="en-US" sz="2000" b="1" dirty="0"/>
              <a:t> Chart</a:t>
            </a:r>
          </a:p>
        </p:txBody>
      </p:sp>
      <p:cxnSp>
        <p:nvCxnSpPr>
          <p:cNvPr id="25" name="Straight Arrow Connector 23"/>
          <p:cNvCxnSpPr>
            <a:cxnSpLocks noChangeShapeType="1"/>
          </p:cNvCxnSpPr>
          <p:nvPr/>
        </p:nvCxnSpPr>
        <p:spPr bwMode="auto">
          <a:xfrm>
            <a:off x="4660050" y="2133600"/>
            <a:ext cx="914400" cy="304800"/>
          </a:xfrm>
          <a:prstGeom prst="straightConnector1">
            <a:avLst/>
          </a:prstGeom>
          <a:noFill/>
          <a:ln w="28575" algn="ctr">
            <a:solidFill>
              <a:schemeClr val="tx2"/>
            </a:solidFill>
            <a:round/>
            <a:headEnd type="oval" w="med" len="med"/>
            <a:tailEnd type="oval" w="med" len="med"/>
          </a:ln>
        </p:spPr>
      </p:cxnSp>
      <p:cxnSp>
        <p:nvCxnSpPr>
          <p:cNvPr id="26" name="Straight Connector 27"/>
          <p:cNvCxnSpPr>
            <a:cxnSpLocks noChangeShapeType="1"/>
          </p:cNvCxnSpPr>
          <p:nvPr/>
        </p:nvCxnSpPr>
        <p:spPr bwMode="auto">
          <a:xfrm>
            <a:off x="5574450" y="2438400"/>
            <a:ext cx="838200" cy="76200"/>
          </a:xfrm>
          <a:prstGeom prst="line">
            <a:avLst/>
          </a:prstGeom>
          <a:noFill/>
          <a:ln w="28575" algn="ctr">
            <a:solidFill>
              <a:schemeClr val="tx1"/>
            </a:solidFill>
            <a:round/>
            <a:headEnd type="oval" w="med" len="med"/>
            <a:tailEnd type="oval" w="med" len="med"/>
          </a:ln>
        </p:spPr>
      </p:cxnSp>
      <p:cxnSp>
        <p:nvCxnSpPr>
          <p:cNvPr id="27" name="Straight Connector 30"/>
          <p:cNvCxnSpPr>
            <a:cxnSpLocks noChangeShapeType="1"/>
          </p:cNvCxnSpPr>
          <p:nvPr/>
        </p:nvCxnSpPr>
        <p:spPr bwMode="auto">
          <a:xfrm>
            <a:off x="6412650" y="2514600"/>
            <a:ext cx="762000" cy="381000"/>
          </a:xfrm>
          <a:prstGeom prst="line">
            <a:avLst/>
          </a:prstGeom>
          <a:noFill/>
          <a:ln w="28575" algn="ctr">
            <a:solidFill>
              <a:schemeClr val="tx1"/>
            </a:solidFill>
            <a:round/>
            <a:headEnd type="oval" w="med" len="med"/>
            <a:tailEnd type="oval" w="med" len="med"/>
          </a:ln>
        </p:spPr>
      </p:cxnSp>
      <p:cxnSp>
        <p:nvCxnSpPr>
          <p:cNvPr id="28" name="Straight Connector 33"/>
          <p:cNvCxnSpPr>
            <a:cxnSpLocks noChangeShapeType="1"/>
          </p:cNvCxnSpPr>
          <p:nvPr/>
        </p:nvCxnSpPr>
        <p:spPr bwMode="auto">
          <a:xfrm>
            <a:off x="7174650" y="2895600"/>
            <a:ext cx="762000" cy="609600"/>
          </a:xfrm>
          <a:prstGeom prst="line">
            <a:avLst/>
          </a:prstGeom>
          <a:noFill/>
          <a:ln w="28575" algn="ctr">
            <a:solidFill>
              <a:schemeClr val="tx1"/>
            </a:solidFill>
            <a:round/>
            <a:headEnd type="oval" w="med" len="med"/>
            <a:tailEnd type="oval" w="med" len="med"/>
          </a:ln>
        </p:spPr>
      </p:cxnSp>
      <p:cxnSp>
        <p:nvCxnSpPr>
          <p:cNvPr id="29" name="Straight Arrow Connector 37"/>
          <p:cNvCxnSpPr>
            <a:cxnSpLocks noChangeShapeType="1"/>
          </p:cNvCxnSpPr>
          <p:nvPr/>
        </p:nvCxnSpPr>
        <p:spPr bwMode="auto">
          <a:xfrm>
            <a:off x="3821850" y="1524000"/>
            <a:ext cx="6019800" cy="3124200"/>
          </a:xfrm>
          <a:prstGeom prst="straightConnector1">
            <a:avLst/>
          </a:prstGeom>
          <a:noFill/>
          <a:ln w="19050" algn="ctr">
            <a:solidFill>
              <a:srgbClr val="FF0000"/>
            </a:solidFill>
            <a:round/>
            <a:headEnd type="none" w="sm" len="sm"/>
            <a:tailEnd type="arrow" w="med" len="med"/>
          </a:ln>
        </p:spPr>
      </p:cxnSp>
      <p:sp>
        <p:nvSpPr>
          <p:cNvPr id="30" name="TextBox 42"/>
          <p:cNvSpPr txBox="1">
            <a:spLocks noChangeArrowheads="1"/>
          </p:cNvSpPr>
          <p:nvPr/>
        </p:nvSpPr>
        <p:spPr bwMode="auto">
          <a:xfrm>
            <a:off x="3136050" y="5715000"/>
            <a:ext cx="6553200" cy="480131"/>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1400" dirty="0"/>
              <a:t>The black line indicates the total of Work Remaining for all Sprint Backlog Items at a specific date within the Sprint.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DB7006-2264-4F64-9474-CEE54BE8B839}"/>
              </a:ext>
            </a:extLst>
          </p:cNvPr>
          <p:cNvSpPr>
            <a:spLocks noGrp="1"/>
          </p:cNvSpPr>
          <p:nvPr>
            <p:ph type="sldNum" sz="quarter" idx="11"/>
          </p:nvPr>
        </p:nvSpPr>
        <p:spPr/>
        <p:txBody>
          <a:bodyPr/>
          <a:lstStyle/>
          <a:p>
            <a:fld id="{C51EAA63-D034-42AE-91FA-B13B9518C7BE}" type="slidenum">
              <a:rPr lang="en-US" smtClean="0"/>
              <a:pPr/>
              <a:t>2</a:t>
            </a:fld>
            <a:endParaRPr lang="en-US" dirty="0"/>
          </a:p>
        </p:txBody>
      </p:sp>
      <p:sp>
        <p:nvSpPr>
          <p:cNvPr id="3" name="Footer Placeholder 2">
            <a:extLst>
              <a:ext uri="{FF2B5EF4-FFF2-40B4-BE49-F238E27FC236}">
                <a16:creationId xmlns:a16="http://schemas.microsoft.com/office/drawing/2014/main" id="{9D538D58-16BC-4503-912F-5097B297F672}"/>
              </a:ext>
            </a:extLst>
          </p:cNvPr>
          <p:cNvSpPr>
            <a:spLocks noGrp="1"/>
          </p:cNvSpPr>
          <p:nvPr>
            <p:ph type="ftr" sz="quarter" idx="12"/>
          </p:nvPr>
        </p:nvSpPr>
        <p:spPr/>
        <p:txBody>
          <a:bodyPr/>
          <a:lstStyle/>
          <a:p>
            <a:r>
              <a:rPr lang="en-US"/>
              <a:t>Oracle Confidential – Internal/Restricted/Highly Restricted</a:t>
            </a:r>
            <a:endParaRPr lang="en-US" dirty="0"/>
          </a:p>
        </p:txBody>
      </p:sp>
      <p:graphicFrame>
        <p:nvGraphicFramePr>
          <p:cNvPr id="6" name="Chart 5">
            <a:extLst>
              <a:ext uri="{FF2B5EF4-FFF2-40B4-BE49-F238E27FC236}">
                <a16:creationId xmlns:a16="http://schemas.microsoft.com/office/drawing/2014/main" id="{D4C33687-2523-4F04-8F31-2578173A0B89}"/>
              </a:ext>
            </a:extLst>
          </p:cNvPr>
          <p:cNvGraphicFramePr>
            <a:graphicFrameLocks/>
          </p:cNvGraphicFramePr>
          <p:nvPr>
            <p:extLst>
              <p:ext uri="{D42A27DB-BD31-4B8C-83A1-F6EECF244321}">
                <p14:modId xmlns:p14="http://schemas.microsoft.com/office/powerpoint/2010/main" val="4279400144"/>
              </p:ext>
            </p:extLst>
          </p:nvPr>
        </p:nvGraphicFramePr>
        <p:xfrm>
          <a:off x="1886858" y="943430"/>
          <a:ext cx="6919212" cy="48013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950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thm15="http://schemas.microsoft.com/office/thememl/2012/main" name="Oracle_16x9-2014-0714" id="{032D2387-665B-4DFB-BDAE-D66619AD7C3A}" vid="{BB0AD61B-F388-487D-A806-2F7277FE970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55</TotalTime>
  <Words>64</Words>
  <Application>Microsoft Office PowerPoint</Application>
  <PresentationFormat>Custom</PresentationFormat>
  <Paragraphs>24</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blank</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 Burndown Chart</dc:title>
  <dc:creator>Global Methods</dc:creator>
  <cp:keywords>OUM</cp:keywords>
  <dc:description>© 2006, 2014 Oracle and/or its affiliates.  All rights reserved.</dc:description>
  <cp:lastModifiedBy>Aditya Vichare</cp:lastModifiedBy>
  <cp:revision>7</cp:revision>
  <cp:lastPrinted>2014-07-15T21:24:45Z</cp:lastPrinted>
  <dcterms:created xsi:type="dcterms:W3CDTF">2014-10-03T22:37:53Z</dcterms:created>
  <dcterms:modified xsi:type="dcterms:W3CDTF">2019-11-07T20:00:40Z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